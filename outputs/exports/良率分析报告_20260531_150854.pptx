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87" r:id="rId3"/>
  </p:sldMasterIdLst>
  <p:notesMasterIdLst>
    <p:notesMasterId r:id="rId5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46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E1F3"/>
    <a:srgbClr val="90C3F4"/>
    <a:srgbClr val="193A5D"/>
    <a:srgbClr val="9FC1F1"/>
    <a:srgbClr val="8D9DAE"/>
    <a:srgbClr val="DFE9F8"/>
    <a:srgbClr val="C0D4F3"/>
    <a:srgbClr val="1F4773"/>
    <a:srgbClr val="F7F7F7"/>
    <a:srgbClr val="1939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0" autoAdjust="0"/>
    <p:restoredTop sz="89829" autoAdjust="0"/>
  </p:normalViewPr>
  <p:slideViewPr>
    <p:cSldViewPr snapToGrid="0" showGuides="1">
      <p:cViewPr varScale="1">
        <p:scale>
          <a:sx n="79" d="100"/>
          <a:sy n="79" d="100"/>
        </p:scale>
        <p:origin x="531" y="51"/>
      </p:cViewPr>
      <p:guideLst>
        <p:guide orient="horz" pos="1546"/>
        <p:guide pos="379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tags" Target="tags/tag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28A30-6942-45B9-BDA3-CE06E8D47C9A}" type="datetimeFigureOut">
              <a:rPr lang="zh-CN" altLang="en-US" smtClean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rPr>
              <a:t>2026/5/10</a:t>
            </a:fld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44F25-971A-4988-8BFD-ED1440144595}" type="slidenum">
              <a:rPr lang="zh-CN" altLang="en-US" smtClean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rPr>
              <a:t>‹#›</a:t>
            </a:fld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1ppt.com/hangye/" TargetMode="Externa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47700" y="647700"/>
            <a:ext cx="10896600" cy="5562600"/>
          </a:xfrm>
          <a:prstGeom prst="rect">
            <a:avLst/>
          </a:prstGeom>
          <a:solidFill>
            <a:srgbClr val="90C3F4"/>
          </a:solidFill>
          <a:ln>
            <a:noFill/>
          </a:ln>
          <a:effectLst>
            <a:glow rad="63500">
              <a:schemeClr val="bg1">
                <a:lumMod val="85000"/>
                <a:alpha val="20000"/>
              </a:schemeClr>
            </a:glow>
          </a:effectLst>
        </p:spPr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 flipH="1" flipV="1">
            <a:off x="11546618" y="388811"/>
            <a:ext cx="647695" cy="3454155"/>
            <a:chOff x="0" y="2756145"/>
            <a:chExt cx="647695" cy="3454155"/>
          </a:xfrm>
        </p:grpSpPr>
        <p:sp>
          <p:nvSpPr>
            <p:cNvPr id="9" name="矩形 8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11" name="矩形 10"/>
            <p:cNvSpPr/>
            <p:nvPr/>
          </p:nvSpPr>
          <p:spPr>
            <a:xfrm rot="16200000">
              <a:off x="-521915" y="3539020"/>
              <a:ext cx="18427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INTERVIEW SELF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0" y="3021742"/>
            <a:ext cx="647695" cy="3415394"/>
            <a:chOff x="0" y="2794906"/>
            <a:chExt cx="647695" cy="3415394"/>
          </a:xfrm>
        </p:grpSpPr>
        <p:sp>
          <p:nvSpPr>
            <p:cNvPr id="13" name="矩形 12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15" name="矩形 14"/>
            <p:cNvSpPr/>
            <p:nvPr/>
          </p:nvSpPr>
          <p:spPr>
            <a:xfrm rot="16200000">
              <a:off x="-483152" y="3539020"/>
              <a:ext cx="176522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SELF STUDENTS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820172" y="753800"/>
            <a:ext cx="0" cy="5350401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</p:cxnSp>
      <p:cxnSp>
        <p:nvCxnSpPr>
          <p:cNvPr id="19" name="直接连接符 18"/>
          <p:cNvCxnSpPr/>
          <p:nvPr/>
        </p:nvCxnSpPr>
        <p:spPr>
          <a:xfrm>
            <a:off x="736141" y="809444"/>
            <a:ext cx="10719719" cy="0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</p:cxnSp>
      <p:cxnSp>
        <p:nvCxnSpPr>
          <p:cNvPr id="20" name="直接连接符 19"/>
          <p:cNvCxnSpPr/>
          <p:nvPr userDrawn="1"/>
        </p:nvCxnSpPr>
        <p:spPr>
          <a:xfrm>
            <a:off x="11386027" y="757673"/>
            <a:ext cx="0" cy="5342654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</p:cxnSp>
      <p:grpSp>
        <p:nvGrpSpPr>
          <p:cNvPr id="21" name="组合 20"/>
          <p:cNvGrpSpPr/>
          <p:nvPr userDrawn="1"/>
        </p:nvGrpSpPr>
        <p:grpSpPr>
          <a:xfrm rot="10800000">
            <a:off x="233318" y="205548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22" name="组合 21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9" name="组合 2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31" name="椭圆 3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30" name="椭圆 2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4" name="组合 2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26" name="椭圆 2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7" name="椭圆 2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25" name="椭圆 2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34" name="组合 33"/>
          <p:cNvGrpSpPr/>
          <p:nvPr userDrawn="1"/>
        </p:nvGrpSpPr>
        <p:grpSpPr>
          <a:xfrm rot="10800000" flipH="1" flipV="1">
            <a:off x="11463115" y="6437136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35" name="组合 34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42" name="组合 41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44" name="椭圆 43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5" name="椭圆 44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6" name="椭圆 45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43" name="椭圆 42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37" name="组合 36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39" name="椭圆 38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38" name="椭圆 37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cxnSp>
        <p:nvCxnSpPr>
          <p:cNvPr id="47" name="直接连接符 46"/>
          <p:cNvCxnSpPr/>
          <p:nvPr userDrawn="1"/>
        </p:nvCxnSpPr>
        <p:spPr>
          <a:xfrm>
            <a:off x="738633" y="6022975"/>
            <a:ext cx="10714734" cy="0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47699" y="0"/>
            <a:ext cx="4591682" cy="6858000"/>
          </a:xfrm>
          <a:prstGeom prst="rect">
            <a:avLst/>
          </a:prstGeom>
          <a:solidFill>
            <a:srgbClr val="90C3F4"/>
          </a:solidFill>
          <a:ln>
            <a:noFill/>
          </a:ln>
          <a:effectLst>
            <a:glow rad="63500">
              <a:schemeClr val="bg1">
                <a:lumMod val="85000"/>
                <a:alpha val="20000"/>
              </a:schemeClr>
            </a:glow>
          </a:effectLst>
        </p:spPr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0" y="3021742"/>
            <a:ext cx="647695" cy="3415394"/>
            <a:chOff x="0" y="2794906"/>
            <a:chExt cx="647695" cy="3415394"/>
          </a:xfrm>
        </p:grpSpPr>
        <p:sp>
          <p:nvSpPr>
            <p:cNvPr id="13" name="矩形 12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15" name="矩形 14"/>
            <p:cNvSpPr/>
            <p:nvPr/>
          </p:nvSpPr>
          <p:spPr>
            <a:xfrm rot="16200000">
              <a:off x="-483152" y="3539020"/>
              <a:ext cx="176522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SELF STUDENTS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 rot="5400000">
            <a:off x="73567" y="404367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22" name="组合 21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9" name="组合 2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31" name="椭圆 3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30" name="椭圆 2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4" name="组合 2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26" name="椭圆 2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7" name="椭圆 2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25" name="椭圆 2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80" name="组合 79"/>
          <p:cNvGrpSpPr/>
          <p:nvPr userDrawn="1"/>
        </p:nvGrpSpPr>
        <p:grpSpPr>
          <a:xfrm>
            <a:off x="864932" y="232313"/>
            <a:ext cx="4157217" cy="6457412"/>
            <a:chOff x="871643" y="252414"/>
            <a:chExt cx="4157217" cy="6457412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876296" y="322792"/>
              <a:ext cx="4150183" cy="0"/>
            </a:xfrm>
            <a:prstGeom prst="line">
              <a:avLst/>
            </a:prstGeom>
            <a:ln w="28575">
              <a:solidFill>
                <a:schemeClr val="bg1">
                  <a:alpha val="50000"/>
                </a:schemeClr>
              </a:solidFill>
              <a:prstDash val="sysDot"/>
            </a:ln>
          </p:spPr>
        </p:cxnSp>
        <p:cxnSp>
          <p:nvCxnSpPr>
            <p:cNvPr id="47" name="直接连接符 46"/>
            <p:cNvCxnSpPr/>
            <p:nvPr userDrawn="1"/>
          </p:nvCxnSpPr>
          <p:spPr>
            <a:xfrm>
              <a:off x="871643" y="6608196"/>
              <a:ext cx="4157217" cy="0"/>
            </a:xfrm>
            <a:prstGeom prst="line">
              <a:avLst/>
            </a:prstGeom>
            <a:ln w="28575">
              <a:solidFill>
                <a:schemeClr val="bg1">
                  <a:alpha val="50000"/>
                </a:schemeClr>
              </a:solidFill>
              <a:prstDash val="sysDot"/>
            </a:ln>
          </p:spPr>
        </p:cxnSp>
        <p:grpSp>
          <p:nvGrpSpPr>
            <p:cNvPr id="17" name="组合 16"/>
            <p:cNvGrpSpPr/>
            <p:nvPr userDrawn="1"/>
          </p:nvGrpSpPr>
          <p:grpSpPr>
            <a:xfrm>
              <a:off x="950801" y="252414"/>
              <a:ext cx="3992022" cy="6457412"/>
              <a:chOff x="950801" y="252414"/>
              <a:chExt cx="3992022" cy="5403992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950801" y="252414"/>
                <a:ext cx="0" cy="5403992"/>
              </a:xfrm>
              <a:prstGeom prst="line">
                <a:avLst/>
              </a:prstGeom>
              <a:ln w="28575">
                <a:solidFill>
                  <a:schemeClr val="bg1">
                    <a:alpha val="50000"/>
                  </a:schemeClr>
                </a:solidFill>
                <a:prstDash val="sysDot"/>
              </a:ln>
            </p:spPr>
          </p:cxnSp>
          <p:cxnSp>
            <p:nvCxnSpPr>
              <p:cNvPr id="48" name="直接连接符 47"/>
              <p:cNvCxnSpPr/>
              <p:nvPr userDrawn="1"/>
            </p:nvCxnSpPr>
            <p:spPr>
              <a:xfrm>
                <a:off x="4942823" y="256287"/>
                <a:ext cx="0" cy="5342654"/>
              </a:xfrm>
              <a:prstGeom prst="line">
                <a:avLst/>
              </a:prstGeom>
              <a:ln w="28575">
                <a:solidFill>
                  <a:schemeClr val="bg1">
                    <a:alpha val="50000"/>
                  </a:schemeClr>
                </a:solidFill>
                <a:prstDash val="sysDot"/>
              </a:ln>
            </p:spPr>
          </p:cxnSp>
        </p:grpSp>
      </p:grpSp>
      <p:grpSp>
        <p:nvGrpSpPr>
          <p:cNvPr id="62" name="组合 61"/>
          <p:cNvGrpSpPr/>
          <p:nvPr userDrawn="1"/>
        </p:nvGrpSpPr>
        <p:grpSpPr>
          <a:xfrm flipH="1" flipV="1">
            <a:off x="5239381" y="388811"/>
            <a:ext cx="647695" cy="3454155"/>
            <a:chOff x="0" y="2756145"/>
            <a:chExt cx="647695" cy="3454155"/>
          </a:xfrm>
        </p:grpSpPr>
        <p:sp>
          <p:nvSpPr>
            <p:cNvPr id="63" name="矩形 62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64" name="直接连接符 63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65" name="矩形 64"/>
            <p:cNvSpPr/>
            <p:nvPr/>
          </p:nvSpPr>
          <p:spPr>
            <a:xfrm rot="16200000">
              <a:off x="-521915" y="3539020"/>
              <a:ext cx="18427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INTERVIEW SELF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66" name="组合 65"/>
          <p:cNvGrpSpPr/>
          <p:nvPr userDrawn="1"/>
        </p:nvGrpSpPr>
        <p:grpSpPr>
          <a:xfrm rot="10800000" flipH="1" flipV="1">
            <a:off x="11463115" y="6437136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74" name="组合 7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5" name="椭圆 7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1" name="椭圆 7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0" name="椭圆 6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299862"/>
            <a:ext cx="12192000" cy="4258277"/>
          </a:xfrm>
          <a:prstGeom prst="rect">
            <a:avLst/>
          </a:prstGeom>
          <a:solidFill>
            <a:srgbClr val="90C3F4"/>
          </a:solidFill>
          <a:ln>
            <a:noFill/>
          </a:ln>
          <a:effectLst>
            <a:glow rad="63500">
              <a:schemeClr val="bg1">
                <a:lumMod val="85000"/>
                <a:alpha val="20000"/>
              </a:schemeClr>
            </a:glow>
          </a:effectLst>
        </p:spPr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grpSp>
        <p:nvGrpSpPr>
          <p:cNvPr id="66" name="组合 65"/>
          <p:cNvGrpSpPr/>
          <p:nvPr userDrawn="1"/>
        </p:nvGrpSpPr>
        <p:grpSpPr>
          <a:xfrm rot="10800000" flipH="1" flipV="1">
            <a:off x="11463115" y="5822074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74" name="组合 7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5" name="椭圆 7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1" name="椭圆 7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0" name="椭圆 6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43" name="组合 42"/>
          <p:cNvGrpSpPr/>
          <p:nvPr userDrawn="1"/>
        </p:nvGrpSpPr>
        <p:grpSpPr>
          <a:xfrm rot="10800000">
            <a:off x="233318" y="789131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44" name="组合 43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53" name="组合 52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55" name="椭圆 54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54" name="椭圆 53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46" name="组合 45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50" name="椭圆 49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49" name="椭圆 48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58" name="组合 57"/>
          <p:cNvGrpSpPr/>
          <p:nvPr userDrawn="1"/>
        </p:nvGrpSpPr>
        <p:grpSpPr>
          <a:xfrm flipH="1" flipV="1">
            <a:off x="11546618" y="388811"/>
            <a:ext cx="647695" cy="3454155"/>
            <a:chOff x="0" y="2756145"/>
            <a:chExt cx="647695" cy="3454155"/>
          </a:xfrm>
        </p:grpSpPr>
        <p:sp>
          <p:nvSpPr>
            <p:cNvPr id="59" name="矩形 58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60" name="直接连接符 59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61" name="矩形 60"/>
            <p:cNvSpPr/>
            <p:nvPr/>
          </p:nvSpPr>
          <p:spPr>
            <a:xfrm rot="16200000">
              <a:off x="-521915" y="3539020"/>
              <a:ext cx="18427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INTERVIEW SELF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79" name="组合 78"/>
          <p:cNvGrpSpPr/>
          <p:nvPr userDrawn="1"/>
        </p:nvGrpSpPr>
        <p:grpSpPr>
          <a:xfrm>
            <a:off x="0" y="3021742"/>
            <a:ext cx="647695" cy="3415394"/>
            <a:chOff x="0" y="2794906"/>
            <a:chExt cx="647695" cy="3415394"/>
          </a:xfrm>
        </p:grpSpPr>
        <p:sp>
          <p:nvSpPr>
            <p:cNvPr id="81" name="矩形 80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83" name="矩形 82"/>
            <p:cNvSpPr/>
            <p:nvPr/>
          </p:nvSpPr>
          <p:spPr>
            <a:xfrm rot="16200000">
              <a:off x="-483152" y="3539020"/>
              <a:ext cx="176522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SELF STUDENTS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205548"/>
            <a:ext cx="721742" cy="6652452"/>
            <a:chOff x="0" y="205548"/>
            <a:chExt cx="721742" cy="6652452"/>
          </a:xfrm>
        </p:grpSpPr>
        <p:sp>
          <p:nvSpPr>
            <p:cNvPr id="90" name="矩形 89"/>
            <p:cNvSpPr/>
            <p:nvPr userDrawn="1"/>
          </p:nvSpPr>
          <p:spPr>
            <a:xfrm>
              <a:off x="0" y="5038725"/>
              <a:ext cx="233308" cy="1819275"/>
            </a:xfrm>
            <a:prstGeom prst="rect">
              <a:avLst/>
            </a:prstGeom>
            <a:solidFill>
              <a:srgbClr val="9FC1F1">
                <a:alpha val="3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89" name="矩形 88"/>
            <p:cNvSpPr/>
            <p:nvPr userDrawn="1"/>
          </p:nvSpPr>
          <p:spPr>
            <a:xfrm>
              <a:off x="91453" y="5479519"/>
              <a:ext cx="170667" cy="1378481"/>
            </a:xfrm>
            <a:prstGeom prst="rect">
              <a:avLst/>
            </a:prstGeom>
            <a:solidFill>
              <a:srgbClr val="9FC1F1">
                <a:alpha val="5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88" name="矩形 87"/>
            <p:cNvSpPr/>
            <p:nvPr userDrawn="1"/>
          </p:nvSpPr>
          <p:spPr>
            <a:xfrm>
              <a:off x="187990" y="5194300"/>
              <a:ext cx="265200" cy="1663700"/>
            </a:xfrm>
            <a:prstGeom prst="rect">
              <a:avLst/>
            </a:prstGeom>
            <a:solidFill>
              <a:srgbClr val="90C3F4"/>
            </a:solidFill>
            <a:ln>
              <a:noFill/>
            </a:ln>
            <a:effectLst>
              <a:glow rad="63500">
                <a:schemeClr val="bg1">
                  <a:lumMod val="85000"/>
                  <a:alpha val="20000"/>
                </a:schemeClr>
              </a:glow>
            </a:effectLst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grpSp>
          <p:nvGrpSpPr>
            <p:cNvPr id="37" name="组合 36"/>
            <p:cNvGrpSpPr/>
            <p:nvPr userDrawn="1"/>
          </p:nvGrpSpPr>
          <p:grpSpPr>
            <a:xfrm rot="10800000">
              <a:off x="233318" y="205548"/>
              <a:ext cx="488424" cy="208662"/>
              <a:chOff x="647695" y="327322"/>
              <a:chExt cx="488424" cy="208662"/>
            </a:xfrm>
            <a:solidFill>
              <a:schemeClr val="bg1">
                <a:lumMod val="85000"/>
                <a:alpha val="50000"/>
              </a:schemeClr>
            </a:solidFill>
          </p:grpSpPr>
          <p:grpSp>
            <p:nvGrpSpPr>
              <p:cNvPr id="38" name="组合 37"/>
              <p:cNvGrpSpPr/>
              <p:nvPr/>
            </p:nvGrpSpPr>
            <p:grpSpPr>
              <a:xfrm>
                <a:off x="647695" y="45958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62" name="组合 61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64" name="椭圆 63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65" name="椭圆 64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80" name="椭圆 79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63" name="椭圆 62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647695" y="32732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40" name="组合 39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42" name="椭圆 41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47" name="椭圆 46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48" name="椭圆 47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41" name="椭圆 40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</p:grpSp>
        <p:grpSp>
          <p:nvGrpSpPr>
            <p:cNvPr id="84" name="组合 83"/>
            <p:cNvGrpSpPr/>
            <p:nvPr userDrawn="1"/>
          </p:nvGrpSpPr>
          <p:grpSpPr>
            <a:xfrm>
              <a:off x="0" y="3021742"/>
              <a:ext cx="513420" cy="3415394"/>
              <a:chOff x="134275" y="2794906"/>
              <a:chExt cx="513420" cy="3415394"/>
            </a:xfrm>
          </p:grpSpPr>
          <p:sp>
            <p:nvSpPr>
              <p:cNvPr id="85" name="矩形 84"/>
              <p:cNvSpPr/>
              <p:nvPr/>
            </p:nvSpPr>
            <p:spPr>
              <a:xfrm>
                <a:off x="134275" y="5476240"/>
                <a:ext cx="513420" cy="327660"/>
              </a:xfrm>
              <a:prstGeom prst="rect">
                <a:avLst/>
              </a:prstGeom>
              <a:solidFill>
                <a:srgbClr val="193A5D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  <p:cxnSp>
            <p:nvCxnSpPr>
              <p:cNvPr id="86" name="直接连接符 85"/>
              <p:cNvCxnSpPr/>
              <p:nvPr/>
            </p:nvCxnSpPr>
            <p:spPr>
              <a:xfrm flipV="1">
                <a:off x="449263" y="4648200"/>
                <a:ext cx="0" cy="1562100"/>
              </a:xfrm>
              <a:prstGeom prst="line">
                <a:avLst/>
              </a:prstGeom>
              <a:ln w="25400" cap="rnd">
                <a:solidFill>
                  <a:srgbClr val="193A5D"/>
                </a:solidFill>
                <a:round/>
              </a:ln>
            </p:spPr>
          </p:cxnSp>
          <p:sp>
            <p:nvSpPr>
              <p:cNvPr id="87" name="矩形 86"/>
              <p:cNvSpPr/>
              <p:nvPr/>
            </p:nvSpPr>
            <p:spPr>
              <a:xfrm rot="16200000">
                <a:off x="-421849" y="3539020"/>
                <a:ext cx="176522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spc="300" dirty="0">
                    <a:solidFill>
                      <a:srgbClr val="19395F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Segoe UI" panose="020B0502040204020203" pitchFamily="34" charset="0"/>
                    <a:sym typeface="思源黑体 Normal" panose="020B0400000000000000" pitchFamily="34" charset="-122"/>
                  </a:rPr>
                  <a:t>SELF STUDENTS</a:t>
                </a:r>
                <a:endParaRPr lang="zh-CN" altLang="en-US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91" name="组合 90"/>
          <p:cNvGrpSpPr/>
          <p:nvPr userDrawn="1"/>
        </p:nvGrpSpPr>
        <p:grpSpPr>
          <a:xfrm flipH="1" flipV="1">
            <a:off x="11467042" y="0"/>
            <a:ext cx="721742" cy="6652452"/>
            <a:chOff x="0" y="205548"/>
            <a:chExt cx="721742" cy="6652452"/>
          </a:xfrm>
        </p:grpSpPr>
        <p:sp>
          <p:nvSpPr>
            <p:cNvPr id="92" name="矩形 91"/>
            <p:cNvSpPr/>
            <p:nvPr userDrawn="1"/>
          </p:nvSpPr>
          <p:spPr>
            <a:xfrm>
              <a:off x="0" y="5038725"/>
              <a:ext cx="233308" cy="1819275"/>
            </a:xfrm>
            <a:prstGeom prst="rect">
              <a:avLst/>
            </a:prstGeom>
            <a:solidFill>
              <a:srgbClr val="9FC1F1">
                <a:alpha val="3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93" name="矩形 92"/>
            <p:cNvSpPr/>
            <p:nvPr userDrawn="1"/>
          </p:nvSpPr>
          <p:spPr>
            <a:xfrm>
              <a:off x="91453" y="5479519"/>
              <a:ext cx="170667" cy="1378481"/>
            </a:xfrm>
            <a:prstGeom prst="rect">
              <a:avLst/>
            </a:prstGeom>
            <a:solidFill>
              <a:srgbClr val="9FC1F1">
                <a:alpha val="5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94" name="矩形 93"/>
            <p:cNvSpPr/>
            <p:nvPr userDrawn="1"/>
          </p:nvSpPr>
          <p:spPr>
            <a:xfrm>
              <a:off x="187990" y="5194300"/>
              <a:ext cx="265200" cy="1663700"/>
            </a:xfrm>
            <a:prstGeom prst="rect">
              <a:avLst/>
            </a:prstGeom>
            <a:solidFill>
              <a:srgbClr val="90C3F4"/>
            </a:solidFill>
            <a:ln>
              <a:noFill/>
            </a:ln>
            <a:effectLst>
              <a:glow rad="63500">
                <a:schemeClr val="bg1">
                  <a:lumMod val="85000"/>
                  <a:alpha val="20000"/>
                </a:schemeClr>
              </a:glow>
            </a:effectLst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grpSp>
          <p:nvGrpSpPr>
            <p:cNvPr id="95" name="组合 94"/>
            <p:cNvGrpSpPr/>
            <p:nvPr userDrawn="1"/>
          </p:nvGrpSpPr>
          <p:grpSpPr>
            <a:xfrm rot="10800000">
              <a:off x="233318" y="205548"/>
              <a:ext cx="488424" cy="208662"/>
              <a:chOff x="647695" y="327322"/>
              <a:chExt cx="488424" cy="208662"/>
            </a:xfrm>
            <a:solidFill>
              <a:schemeClr val="bg1">
                <a:lumMod val="85000"/>
                <a:alpha val="50000"/>
              </a:schemeClr>
            </a:solidFill>
          </p:grpSpPr>
          <p:grpSp>
            <p:nvGrpSpPr>
              <p:cNvPr id="100" name="组合 99"/>
              <p:cNvGrpSpPr/>
              <p:nvPr/>
            </p:nvGrpSpPr>
            <p:grpSpPr>
              <a:xfrm>
                <a:off x="647695" y="45958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107" name="组合 106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109" name="椭圆 108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10" name="椭圆 109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11" name="椭圆 110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108" name="椭圆 107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grpSp>
            <p:nvGrpSpPr>
              <p:cNvPr id="101" name="组合 100"/>
              <p:cNvGrpSpPr/>
              <p:nvPr/>
            </p:nvGrpSpPr>
            <p:grpSpPr>
              <a:xfrm>
                <a:off x="647695" y="32732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102" name="组合 101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104" name="椭圆 103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05" name="椭圆 104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06" name="椭圆 105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103" name="椭圆 102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</p:grpSp>
        <p:grpSp>
          <p:nvGrpSpPr>
            <p:cNvPr id="96" name="组合 95"/>
            <p:cNvGrpSpPr/>
            <p:nvPr userDrawn="1"/>
          </p:nvGrpSpPr>
          <p:grpSpPr>
            <a:xfrm>
              <a:off x="0" y="3021742"/>
              <a:ext cx="513420" cy="3415394"/>
              <a:chOff x="134275" y="2794906"/>
              <a:chExt cx="513420" cy="3415394"/>
            </a:xfrm>
          </p:grpSpPr>
          <p:sp>
            <p:nvSpPr>
              <p:cNvPr id="97" name="矩形 96"/>
              <p:cNvSpPr/>
              <p:nvPr/>
            </p:nvSpPr>
            <p:spPr>
              <a:xfrm>
                <a:off x="134275" y="5476240"/>
                <a:ext cx="513420" cy="327660"/>
              </a:xfrm>
              <a:prstGeom prst="rect">
                <a:avLst/>
              </a:prstGeom>
              <a:solidFill>
                <a:srgbClr val="193A5D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  <p:cxnSp>
            <p:nvCxnSpPr>
              <p:cNvPr id="98" name="直接连接符 97"/>
              <p:cNvCxnSpPr/>
              <p:nvPr/>
            </p:nvCxnSpPr>
            <p:spPr>
              <a:xfrm flipV="1">
                <a:off x="449263" y="4648200"/>
                <a:ext cx="0" cy="1562100"/>
              </a:xfrm>
              <a:prstGeom prst="line">
                <a:avLst/>
              </a:prstGeom>
              <a:ln w="25400" cap="rnd">
                <a:solidFill>
                  <a:srgbClr val="193A5D"/>
                </a:solidFill>
                <a:round/>
              </a:ln>
            </p:spPr>
          </p:cxnSp>
          <p:sp>
            <p:nvSpPr>
              <p:cNvPr id="99" name="矩形 98"/>
              <p:cNvSpPr/>
              <p:nvPr/>
            </p:nvSpPr>
            <p:spPr>
              <a:xfrm rot="16200000">
                <a:off x="-421849" y="3539020"/>
                <a:ext cx="176522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spc="300" dirty="0">
                    <a:solidFill>
                      <a:srgbClr val="19395F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Segoe UI" panose="020B0502040204020203" pitchFamily="34" charset="0"/>
                    <a:sym typeface="思源黑体 Normal" panose="020B0400000000000000" pitchFamily="34" charset="-122"/>
                  </a:rPr>
                  <a:t>SELF STUDENTS</a:t>
                </a:r>
                <a:endParaRPr lang="zh-CN" altLang="en-US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2026/5/10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2026/5/10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0.xml"/><Relationship Id="rId27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33.xml"/><Relationship Id="rId30" Type="http://schemas.openxmlformats.org/officeDocument/2006/relationships/slideLayout" Target="../slideLayouts/slideLayout34.xml"/><Relationship Id="rId31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36.xml"/><Relationship Id="rId3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7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93D2807F-E77D-47AF-BE97-7F279468F5B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83" r:id="rId29"/>
    <p:sldLayoutId id="2147483684" r:id="rId30"/>
    <p:sldLayoutId id="2147483685" r:id="rId31"/>
    <p:sldLayoutId id="2147483686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良率分析报告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产线良率、缺陷分布与改进建议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数据分析团队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9896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2025年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良率分析报告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产线良率、缺陷分布与改进建议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数据分析团队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9896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2025年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整体良率概览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17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产线×产品良率对比与关键指标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良率时间趋势分析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各产线良率月度变化趋势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缺陷分布与影响分析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461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主要缺陷类型及其对良率的影响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1148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设备参数相关性分析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1605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关键设备参数与良率的关联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改进建议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0749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基于数据的优化方向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669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整体良率概览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产线×产品良率对比与关键指标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整体良率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83464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68580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由于当前数据源未连接，无法展示实际良率数据。请上传数据文件以获取准确分析。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10728655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详细说明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63440"/>
            <a:ext cx="10180015" cy="12801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请上传包含良率数据的Excel或CSV文件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系统将自动计算各产线、各产品的良率指标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良率时间趋势分析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各产线良率月度变化趋势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良率分析流程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2743200"/>
            <a:ext cx="97840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数据上传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上传良率数据文件</a:t>
            </a:r>
          </a:p>
        </p:txBody>
      </p:sp>
      <p:sp>
        <p:nvSpPr>
          <p:cNvPr id="8" name="Oval 7"/>
          <p:cNvSpPr/>
          <p:nvPr/>
        </p:nvSpPr>
        <p:spPr>
          <a:xfrm>
            <a:off x="424434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568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数据清洗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568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自动检测并处理缺失值与异常值</a:t>
            </a:r>
          </a:p>
        </p:txBody>
      </p:sp>
      <p:sp>
        <p:nvSpPr>
          <p:cNvPr id="11" name="Oval 10"/>
          <p:cNvSpPr/>
          <p:nvPr/>
        </p:nvSpPr>
        <p:spPr>
          <a:xfrm>
            <a:off x="750570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704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趋势分析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704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生成各产线良率时间趋势图</a:t>
            </a:r>
          </a:p>
        </p:txBody>
      </p:sp>
      <p:sp>
        <p:nvSpPr>
          <p:cNvPr id="14" name="Oval 13"/>
          <p:cNvSpPr/>
          <p:nvPr/>
        </p:nvSpPr>
        <p:spPr>
          <a:xfrm>
            <a:off x="10767060" y="25374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报告生成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输出完整分析报告与改进建议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缺陷分布与影响分析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主要缺陷类型及其对良率的影响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缺陷类型分布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5411999"/>
              <a:gd name="adj2" fmla="val 5400000"/>
              <a:gd name="adj3" fmla="val 5200"/>
            </a:avLst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lock Arc 4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0"/>
              <a:gd name="adj2" fmla="val 5400000"/>
              <a:gd name="adj3" fmla="val 5200"/>
            </a:avLst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16200000"/>
              <a:gd name="adj2" fmla="val 0"/>
              <a:gd name="adj3" fmla="val 5200"/>
            </a:avLst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10800000"/>
              <a:gd name="adj2" fmla="val 16200000"/>
              <a:gd name="adj3" fmla="val 5200"/>
            </a:avLst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lock Arc 7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5400000"/>
              <a:gd name="adj2" fmla="val 10800000"/>
              <a:gd name="adj3" fmla="val 5200"/>
            </a:avLst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3017520"/>
            <a:ext cx="13716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待上传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3383280"/>
            <a:ext cx="1645920" cy="237744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728216"/>
            <a:ext cx="256032" cy="25603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1691640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缺陷A  25%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441448"/>
            <a:ext cx="256032" cy="256032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2404872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缺陷B  25%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154680"/>
            <a:ext cx="256032" cy="256032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3118104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缺陷C  25%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867912"/>
            <a:ext cx="256032" cy="256032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3831336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缺陷D  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设备参数相关性分析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关键设备参数与良率的关联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待分析的关键参数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温度参数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各工段温度设定值与良率关系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最佳温度区间分析</a:t>
            </a:r>
          </a:p>
        </p:txBody>
      </p:sp>
      <p:sp>
        <p:nvSpPr>
          <p:cNvPr id="8" name="Oval 7"/>
          <p:cNvSpPr/>
          <p:nvPr/>
        </p:nvSpPr>
        <p:spPr>
          <a:xfrm>
            <a:off x="6430975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9615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压力参数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压力稳定性与缺陷率关联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压力异常预警阈值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改进建议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基于数据的优化方向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改进行动计划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45003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2270683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数据准备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545003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270683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1周内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270683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整理并上传历史良率数据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48056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负责人：生产部门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03" y="1371600"/>
            <a:ext cx="2545003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6563" y="1371600"/>
            <a:ext cx="2270683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基线分析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59403" y="1920240"/>
            <a:ext cx="2545003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6563" y="1920240"/>
            <a:ext cx="2270683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第2周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6563" y="2468880"/>
            <a:ext cx="2270683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完成整体良率基线测量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3723" y="448056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6563" y="466344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负责人：质量团队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287" y="1371600"/>
            <a:ext cx="2545003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4447" y="1371600"/>
            <a:ext cx="2270683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根因分析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7287" y="1920240"/>
            <a:ext cx="2545003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447" y="1920240"/>
            <a:ext cx="2270683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第3-4周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2468880"/>
            <a:ext cx="2270683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针对主要缺陷类型进行根因分析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61607" y="448056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4447" y="466344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负责人：工程团队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15171" y="1371600"/>
            <a:ext cx="2545003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331" y="1371600"/>
            <a:ext cx="2270683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改善实施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171" y="1920240"/>
            <a:ext cx="2545003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331" y="1920240"/>
            <a:ext cx="2270683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第2个月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331" y="2468880"/>
            <a:ext cx="2270683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制定并实施改进措施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491" y="448056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331" y="466344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负责人：跨部门团队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感谢聆听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请上传数据文件以获取完整的良率分析报告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M0ZGRiNGFjMzkzZWVjNjQxMDJlMzkyNDg0ZmE4Y2Q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自定义 13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66BE8"/>
      </a:accent1>
      <a:accent2>
        <a:srgbClr val="73A6F2"/>
      </a:accent2>
      <a:accent3>
        <a:srgbClr val="646464"/>
      </a:accent3>
      <a:accent4>
        <a:srgbClr val="828282"/>
      </a:accent4>
      <a:accent5>
        <a:srgbClr val="A5A5A5"/>
      </a:accent5>
      <a:accent6>
        <a:srgbClr val="C9C9C9"/>
      </a:accent6>
      <a:hlink>
        <a:srgbClr val="4472C4"/>
      </a:hlink>
      <a:folHlink>
        <a:srgbClr val="BFBFBF"/>
      </a:folHlink>
    </a:clrScheme>
    <a:fontScheme name="31s3s1st">
      <a:majorFont>
        <a:latin typeface="OPPOSans B"/>
        <a:ea typeface="OPPOSans R"/>
        <a:cs typeface=""/>
      </a:majorFont>
      <a:minorFont>
        <a:latin typeface="OPPOSans B"/>
        <a:ea typeface="OPPOSans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OPPOSans R</vt:lpstr>
      <vt:lpstr>思源黑体 Normal</vt:lpstr>
      <vt:lpstr>微软雅黑</vt:lpstr>
      <vt:lpstr>Arial</vt:lpstr>
      <vt:lpstr>第一PPT，www.1ppt.com</vt:lpstr>
      <vt:lpstr>第一PPT，www.1ppt.com 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自我介绍</dc:title>
  <dc:creator>Jiaze Liu</dc:creator>
  <cp:keywords>www.1ppt.com</cp:keywords>
  <dc:description>www.1ppt.com</dc:description>
  <cp:lastModifiedBy>Jiaze Liu</cp:lastModifiedBy>
  <cp:revision>236</cp:revision>
  <dcterms:created xsi:type="dcterms:W3CDTF">2021-05-31T01:54:00Z</dcterms:created>
  <dcterms:modified xsi:type="dcterms:W3CDTF">2026-05-10T09:31:18Z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B531B7DEF71547C5A317E51F03D3C376_12</vt:lpwstr>
  </property>
  <property fmtid="{D5CDD505-2E9C-101B-9397-08002B2CF9AE}" pid="3" name="KSOProductBuildVer">
    <vt:lpwstr>2052-12.1.0.23542</vt:lpwstr>
  </property>
</Properties>
</file>