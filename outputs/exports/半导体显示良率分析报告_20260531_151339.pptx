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87" r:id="rId3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1F3"/>
    <a:srgbClr val="90C3F4"/>
    <a:srgbClr val="193A5D"/>
    <a:srgbClr val="9FC1F1"/>
    <a:srgbClr val="8D9DAE"/>
    <a:srgbClr val="DFE9F8"/>
    <a:srgbClr val="C0D4F3"/>
    <a:srgbClr val="1F4773"/>
    <a:srgbClr val="F7F7F7"/>
    <a:srgbClr val="19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89829" autoAdjust="0"/>
  </p:normalViewPr>
  <p:slideViewPr>
    <p:cSldViewPr snapToGrid="0" showGuides="1">
      <p:cViewPr varScale="1">
        <p:scale>
          <a:sx n="79" d="100"/>
          <a:sy n="79" d="100"/>
        </p:scale>
        <p:origin x="531" y="51"/>
      </p:cViewPr>
      <p:guideLst>
        <p:guide orient="horz" pos="1546"/>
        <p:guide pos="37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8A30-6942-45B9-BDA3-CE06E8D47C9A}" type="datetimeFigureOut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2026/5/10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4F25-971A-4988-8BFD-ED1440144595}" type="slidenum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‹#›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1ppt.com/hangye/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700" y="647700"/>
            <a:ext cx="10896600" cy="55626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9" name="矩形 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1" name="矩形 1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20172" y="753800"/>
            <a:ext cx="0" cy="5350401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19" name="直接连接符 18"/>
          <p:cNvCxnSpPr/>
          <p:nvPr/>
        </p:nvCxnSpPr>
        <p:spPr>
          <a:xfrm>
            <a:off x="736141" y="809444"/>
            <a:ext cx="10719719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20" name="直接连接符 19"/>
          <p:cNvCxnSpPr/>
          <p:nvPr userDrawn="1"/>
        </p:nvCxnSpPr>
        <p:spPr>
          <a:xfrm>
            <a:off x="11386027" y="757673"/>
            <a:ext cx="0" cy="5342654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grpSp>
        <p:nvGrpSpPr>
          <p:cNvPr id="21" name="组合 20"/>
          <p:cNvGrpSpPr/>
          <p:nvPr userDrawn="1"/>
        </p:nvGrpSpPr>
        <p:grpSpPr>
          <a:xfrm rot="10800000">
            <a:off x="233318" y="205548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2" name="组合 41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3" name="椭圆 42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cxnSp>
        <p:nvCxnSpPr>
          <p:cNvPr id="47" name="直接连接符 46"/>
          <p:cNvCxnSpPr/>
          <p:nvPr userDrawn="1"/>
        </p:nvCxnSpPr>
        <p:spPr>
          <a:xfrm>
            <a:off x="738633" y="6022975"/>
            <a:ext cx="10714734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699" y="0"/>
            <a:ext cx="4591682" cy="68580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5400000">
            <a:off x="73567" y="404367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80" name="组合 79"/>
          <p:cNvGrpSpPr/>
          <p:nvPr userDrawn="1"/>
        </p:nvGrpSpPr>
        <p:grpSpPr>
          <a:xfrm>
            <a:off x="864932" y="232313"/>
            <a:ext cx="4157217" cy="6457412"/>
            <a:chOff x="871643" y="252414"/>
            <a:chExt cx="4157217" cy="645741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6296" y="322792"/>
              <a:ext cx="4150183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cxnSp>
          <p:nvCxnSpPr>
            <p:cNvPr id="47" name="直接连接符 46"/>
            <p:cNvCxnSpPr/>
            <p:nvPr userDrawn="1"/>
          </p:nvCxnSpPr>
          <p:spPr>
            <a:xfrm>
              <a:off x="871643" y="6608196"/>
              <a:ext cx="4157217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grpSp>
          <p:nvGrpSpPr>
            <p:cNvPr id="17" name="组合 16"/>
            <p:cNvGrpSpPr/>
            <p:nvPr userDrawn="1"/>
          </p:nvGrpSpPr>
          <p:grpSpPr>
            <a:xfrm>
              <a:off x="950801" y="252414"/>
              <a:ext cx="3992022" cy="6457412"/>
              <a:chOff x="950801" y="252414"/>
              <a:chExt cx="3992022" cy="540399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50801" y="252414"/>
                <a:ext cx="0" cy="5403992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  <p:cxnSp>
            <p:nvCxnSpPr>
              <p:cNvPr id="48" name="直接连接符 47"/>
              <p:cNvCxnSpPr/>
              <p:nvPr userDrawn="1"/>
            </p:nvCxnSpPr>
            <p:spPr>
              <a:xfrm>
                <a:off x="4942823" y="256287"/>
                <a:ext cx="0" cy="5342654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</p:grpSp>
      </p:grpSp>
      <p:grpSp>
        <p:nvGrpSpPr>
          <p:cNvPr id="62" name="组合 61"/>
          <p:cNvGrpSpPr/>
          <p:nvPr userDrawn="1"/>
        </p:nvGrpSpPr>
        <p:grpSpPr>
          <a:xfrm flipH="1" flipV="1">
            <a:off x="5239381" y="388811"/>
            <a:ext cx="647695" cy="3454155"/>
            <a:chOff x="0" y="2756145"/>
            <a:chExt cx="647695" cy="3454155"/>
          </a:xfrm>
        </p:grpSpPr>
        <p:sp>
          <p:nvSpPr>
            <p:cNvPr id="63" name="矩形 6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5" name="矩形 64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299862"/>
            <a:ext cx="12192000" cy="4258277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5822074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rot="10800000">
            <a:off x="233318" y="789131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44" name="组合 43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53" name="组合 52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6" name="组合 45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59" name="矩形 5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1" name="矩形 6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81" name="矩形 80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83" name="矩形 82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05548"/>
            <a:ext cx="721742" cy="6652452"/>
            <a:chOff x="0" y="205548"/>
            <a:chExt cx="721742" cy="6652452"/>
          </a:xfrm>
        </p:grpSpPr>
        <p:sp>
          <p:nvSpPr>
            <p:cNvPr id="90" name="矩形 89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9" name="矩形 88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8" name="矩形 87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37" name="组合 36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38" name="组合 37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80" name="椭圆 79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63" name="椭圆 6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7" name="椭圆 46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41" name="椭圆 40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87" name="矩形 86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91" name="组合 90"/>
          <p:cNvGrpSpPr/>
          <p:nvPr userDrawn="1"/>
        </p:nvGrpSpPr>
        <p:grpSpPr>
          <a:xfrm flipH="1" flipV="1">
            <a:off x="11467042" y="0"/>
            <a:ext cx="721742" cy="6652452"/>
            <a:chOff x="0" y="205548"/>
            <a:chExt cx="721742" cy="6652452"/>
          </a:xfrm>
        </p:grpSpPr>
        <p:sp>
          <p:nvSpPr>
            <p:cNvPr id="92" name="矩形 91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3" name="矩形 92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4" name="矩形 93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95" name="组合 94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100" name="组合 99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7" name="组合 106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9" name="椭圆 108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8" name="椭圆 107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4" name="椭圆 10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5" name="椭圆 10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3" name="椭圆 10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99" name="矩形 98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6.xml"/><Relationship Id="rId3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半导体显示良率分析报告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晶圆厂·制程·产品三维度深度洞察 | 2026年3月-5月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2026年6月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半导体显示良率分析报告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晶圆厂·制程·产品三维度深度洞察 | 2026年3月-5月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2026年6月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良率概览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晶圆厂/制程/产品三维度良率对比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时间趋势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各晶圆厂90天良率走势分析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缺陷分析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缺陷分布占比及与良率相关性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6大工艺参数与良率相关性分析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改进建议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基于数据的优先级行动方案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结论与展望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核心发现与下一步计划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良率概览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晶圆厂·制程·产品三维度全景对比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各晶圆厂良率对比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晶圆厂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251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982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最低良率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713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最高良率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4444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综合不良率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7251" y="178308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2982" y="178308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713" y="178308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4444" y="178308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5.61%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5176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265176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2982" y="265176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265176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444" y="265176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6.94%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7251" y="352044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91.37%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352044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713" y="352044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4444" y="3520440"/>
            <a:ext cx="2145731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8.89%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各制程良率对比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制程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平均颗粒污染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平均图案缺陷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沉积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清洗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07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离子注入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刻蚀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92.98%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31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光刻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683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11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9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683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91.95%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011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各产品良率对比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最低良率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最高良率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LCD驱动IC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95.23%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88.90%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99.80%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TFT阵列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85.22%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99.80%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OLED驱动IC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99.03%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MicroLED背板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91.12%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83.06%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98.36%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时间趋势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各晶圆厂90天良率走势分析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各晶圆厂月度平均良率趋势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各晶圆厂月度平均良率趋势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Fab-A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Fab-B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0" y="114300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617220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6020" y="2166040"/>
            <a:ext cx="320040" cy="40061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193744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1780" y="2208510"/>
            <a:ext cx="320040" cy="396369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6060" y="197991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7540" y="2077279"/>
            <a:ext cx="320040" cy="4094921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1820" y="184867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96.42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3540" y="2230169"/>
            <a:ext cx="320040" cy="3942031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7820" y="200156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9300" y="2264995"/>
            <a:ext cx="320040" cy="3907205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3580" y="203639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060" y="2135037"/>
            <a:ext cx="320040" cy="4037163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190643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81060" y="2317657"/>
            <a:ext cx="320040" cy="385454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5340" y="208905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90.76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46820" y="2361825"/>
            <a:ext cx="320040" cy="3810375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1100" y="213322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89.72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12580" y="2215730"/>
            <a:ext cx="320040" cy="395647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6860" y="198713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良率趋势关键发现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Fab-A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2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Fab-B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Fab-C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洞察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3月（1-31日）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78308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94.33%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78308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92.82%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8308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90.76%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178308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Fab-A领先，Fab-C垫底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4月（1-30日）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320040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20040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91.99%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0040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89.72%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20040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三厂均下滑，4月中旬为低谷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5月（1-29日）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461772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96.42%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461772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95.06%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61772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93.16%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4617720"/>
            <a:ext cx="1316736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全面回升，Fab-A突破98%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4月中旬三厂同步下滑，存在共因（原材料/环境因素）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5月初良率大幅回升，Fab-A最高达98.16%，值得复盘优化措施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Fab-C始终低于其他两厂约2-3个百分点，改善空间最大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缺陷分析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缺陷分布占比及与良率相关性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缺陷类型分布占比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20844000"/>
              <a:gd name="adj2" fmla="val 5400000"/>
              <a:gd name="adj3" fmla="val 52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6070400"/>
              <a:gd name="adj2" fmla="val 20844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2938400"/>
              <a:gd name="adj2" fmla="val 160704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108800"/>
              <a:gd name="adj2" fmla="val 129384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7495200"/>
              <a:gd name="adj2" fmla="val 10108800"/>
              <a:gd name="adj3" fmla="val 5200"/>
            </a:avLst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lock Arc 9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7495200"/>
              <a:gd name="adj3" fmla="val 5200"/>
            </a:avLst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35,117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总缺陷数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颗粒污染 28.5%  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图案缺陷 22.1%  22%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套刻偏移 14.5%  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膜厚不均 13.1%  13%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581144"/>
            <a:ext cx="256032" cy="2560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544568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蚀刻残留 12.1%  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294376"/>
            <a:ext cx="256032" cy="2560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525780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CMP划伤 9.7%  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缺陷类型与良率相关性排序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缺陷类型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251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总缺陷数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982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占比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713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与良率相关系数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4444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影响等级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颗粒污染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7251" y="178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9,991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2982" y="178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713" y="178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-0.655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4444" y="178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⭐⭐⭐ 最高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4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45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图案缺陷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2545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7,760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2982" y="2545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22.1%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2545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-0.643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444" y="2545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⭐⭐⭐ 次高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07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7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膜厚不均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7251" y="3307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4,604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3307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13.1%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713" y="3307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-0.528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4444" y="3307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套刻偏移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7251" y="4069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2982" y="4069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14.5%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713" y="4069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-0.521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4069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31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31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蚀刻残留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7251" y="4831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4,242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2982" y="4831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12.1%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713" y="4831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-0.486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444" y="4831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59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9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CMP划伤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7251" y="559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3,420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2982" y="559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713" y="559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-0.471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4444" y="5593080"/>
            <a:ext cx="2145731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各晶圆厂平均缺陷数对比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晶圆厂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颗粒污染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图案缺陷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套刻偏移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膜厚不均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蚀刻残留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CMP划伤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Fab-C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设备参数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6大工艺参数与良率相关性分析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工艺参数与良率整体相关性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相关系数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影响方向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解读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腔体压力_Torr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+0.032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弱正相关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整体影响极小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研磨时间_s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弱负相关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整体影响极小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07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清洗液浓度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+0.021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弱正相关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整体影响极小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焦点偏移_μm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-0.012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弱负相关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整体影响极小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31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曝光剂量_mJ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683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+0.004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几乎无关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11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无显著影响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9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RF功率_W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683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≈0.000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几乎无关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011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无显著影响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按制程拆分的参数相关性（关键发现）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制程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最强相关参数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相关系数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腔体压力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+0.131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适当提高腔体压力可提升清洗良率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清洗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清洗液浓度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+0.084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适当提高浓度有正向作用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研磨时间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-0.108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研磨时间越长良率越低，注意过磨风险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沉积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RF功率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-0.075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弱负相关，需控制功率上限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光刻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清洗液浓度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+0.040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正向影响但较弱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6大工艺参数整体与良率相关性极弱（|r|&lt;0.13），远低于缺陷类型的影响（|r|&gt;0.64）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良率主要瓶颈在于缺陷管控，而非工艺参数微调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清洗制程的腔体压力和CMP的研磨时间是相对最值得优化的参数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改进建议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基于数据的优先级行动方案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优先级行动方案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999427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725107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999427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25107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725107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450787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72510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3827" y="1371600"/>
            <a:ext cx="1999427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0987" y="1371600"/>
            <a:ext cx="1725107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3827" y="1920240"/>
            <a:ext cx="1999427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0987" y="1920240"/>
            <a:ext cx="1725107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987" y="2468880"/>
            <a:ext cx="1725107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8147" y="4480560"/>
            <a:ext cx="1450787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0987" y="4663440"/>
            <a:ext cx="172510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6134" y="1371600"/>
            <a:ext cx="1999427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3294" y="1371600"/>
            <a:ext cx="1725107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6134" y="1920240"/>
            <a:ext cx="1999427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3294" y="1920240"/>
            <a:ext cx="1725107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3294" y="2468880"/>
            <a:ext cx="1725107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70454" y="4480560"/>
            <a:ext cx="1450787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3294" y="4663440"/>
            <a:ext cx="172510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441" y="1371600"/>
            <a:ext cx="1999427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601" y="1371600"/>
            <a:ext cx="1725107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8441" y="1920240"/>
            <a:ext cx="1999427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601" y="1920240"/>
            <a:ext cx="1725107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601" y="2468880"/>
            <a:ext cx="1725107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2761" y="4480560"/>
            <a:ext cx="1450787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5601" y="4663440"/>
            <a:ext cx="172510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0748" y="1371600"/>
            <a:ext cx="1999427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97908" y="1371600"/>
            <a:ext cx="1725107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0748" y="1920240"/>
            <a:ext cx="1999427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97908" y="1920240"/>
            <a:ext cx="1725107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7908" y="2468880"/>
            <a:ext cx="1725107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5068" y="4480560"/>
            <a:ext cx="1450787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97908" y="4663440"/>
            <a:ext cx="172510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核心发现与下一步计划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良率提升的关键在于缺陷管控，而非工艺参数微调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良率现状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整体良率91%-95%，Fab-A领先（94.65%），Fab-C待改善（91.37%）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时间趋势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4月中旬三厂同步下滑，5月全面回升至高位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缺陷主因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颗粒污染（r=-0.655）和图案缺陷（r=-0.643）是影响良率的两大核心因素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参数影响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6大工艺参数与良率相关性极弱（|r|&lt;0.13），非当前主要瓶颈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8521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216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改善方向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优先治理颗粒污染和图案缺陷，其次优化清洗腔体压力和CMP研磨时间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基于数据驱动的良率持续改善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M0ZGRiNGFjMzkzZWVjNjQxMDJlMzkyNDg0ZmE4Y2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自定义 1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66BE8"/>
      </a:accent1>
      <a:accent2>
        <a:srgbClr val="73A6F2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31s3s1st">
      <a:majorFont>
        <a:latin typeface="OPPOSans B"/>
        <a:ea typeface="OPPOSans R"/>
        <a:cs typeface=""/>
      </a:majorFont>
      <a:minorFont>
        <a:latin typeface="OPPOSans B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OPPOSans R</vt:lpstr>
      <vt:lpstr>思源黑体 Normal</vt:lpstr>
      <vt:lpstr>微软雅黑</vt:lpstr>
      <vt:lpstr>Arial</vt:lpstr>
      <vt:lpstr>第一PPT，www.1ppt.com</vt:lpstr>
      <vt:lpstr>第一PPT，www.1ppt.com 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</dc:title>
  <dc:creator>Jiaze Liu</dc:creator>
  <cp:keywords>www.1ppt.com</cp:keywords>
  <dc:description>www.1ppt.com</dc:description>
  <cp:lastModifiedBy>Jiaze Liu</cp:lastModifiedBy>
  <cp:revision>236</cp:revision>
  <dcterms:created xsi:type="dcterms:W3CDTF">2021-05-31T01:54:00Z</dcterms:created>
  <dcterms:modified xsi:type="dcterms:W3CDTF">2026-05-10T09:31:18Z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B531B7DEF71547C5A317E51F03D3C376_12</vt:lpwstr>
  </property>
  <property fmtid="{D5CDD505-2E9C-101B-9397-08002B2CF9AE}" pid="3" name="KSOProductBuildVer">
    <vt:lpwstr>2052-12.1.0.23542</vt:lpwstr>
  </property>
</Properties>
</file>