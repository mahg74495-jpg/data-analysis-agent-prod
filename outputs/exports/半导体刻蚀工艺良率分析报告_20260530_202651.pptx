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87" r:id="rId3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6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1F3"/>
    <a:srgbClr val="90C3F4"/>
    <a:srgbClr val="193A5D"/>
    <a:srgbClr val="9FC1F1"/>
    <a:srgbClr val="8D9DAE"/>
    <a:srgbClr val="DFE9F8"/>
    <a:srgbClr val="C0D4F3"/>
    <a:srgbClr val="1F4773"/>
    <a:srgbClr val="F7F7F7"/>
    <a:srgbClr val="1939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89829" autoAdjust="0"/>
  </p:normalViewPr>
  <p:slideViewPr>
    <p:cSldViewPr snapToGrid="0" showGuides="1">
      <p:cViewPr varScale="1">
        <p:scale>
          <a:sx n="79" d="100"/>
          <a:sy n="79" d="100"/>
        </p:scale>
        <p:origin x="531" y="51"/>
      </p:cViewPr>
      <p:guideLst>
        <p:guide orient="horz" pos="1546"/>
        <p:guide pos="37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tags" Target="tags/tag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28A30-6942-45B9-BDA3-CE06E8D47C9A}" type="datetimeFigureOut">
              <a:rPr lang="zh-CN" altLang="en-US" smtClean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rPr>
              <a:t>2026/5/10</a:t>
            </a:fld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44F25-971A-4988-8BFD-ED1440144595}" type="slidenum">
              <a:rPr lang="zh-CN" altLang="en-US" smtClean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rPr>
              <a:t>‹#›</a:t>
            </a:fld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1ppt.com/hangye/" TargetMode="Externa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47700" y="647700"/>
            <a:ext cx="10896600" cy="5562600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 flipH="1" flipV="1">
            <a:off x="11546618" y="388811"/>
            <a:ext cx="647695" cy="3454155"/>
            <a:chOff x="0" y="2756145"/>
            <a:chExt cx="647695" cy="3454155"/>
          </a:xfrm>
        </p:grpSpPr>
        <p:sp>
          <p:nvSpPr>
            <p:cNvPr id="9" name="矩形 8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1" name="矩形 10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13" name="矩形 1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5" name="矩形 14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820172" y="753800"/>
            <a:ext cx="0" cy="5350401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cxnSp>
        <p:nvCxnSpPr>
          <p:cNvPr id="19" name="直接连接符 18"/>
          <p:cNvCxnSpPr/>
          <p:nvPr/>
        </p:nvCxnSpPr>
        <p:spPr>
          <a:xfrm>
            <a:off x="736141" y="809444"/>
            <a:ext cx="10719719" cy="0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cxnSp>
        <p:nvCxnSpPr>
          <p:cNvPr id="20" name="直接连接符 19"/>
          <p:cNvCxnSpPr/>
          <p:nvPr userDrawn="1"/>
        </p:nvCxnSpPr>
        <p:spPr>
          <a:xfrm>
            <a:off x="11386027" y="757673"/>
            <a:ext cx="0" cy="5342654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grpSp>
        <p:nvGrpSpPr>
          <p:cNvPr id="21" name="组合 20"/>
          <p:cNvGrpSpPr/>
          <p:nvPr userDrawn="1"/>
        </p:nvGrpSpPr>
        <p:grpSpPr>
          <a:xfrm rot="10800000">
            <a:off x="233318" y="205548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22" name="组合 21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9" name="组合 2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4" name="组合 2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25" name="椭圆 2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34" name="组合 33"/>
          <p:cNvGrpSpPr/>
          <p:nvPr userDrawn="1"/>
        </p:nvGrpSpPr>
        <p:grpSpPr>
          <a:xfrm rot="10800000" flipH="1" flipV="1">
            <a:off x="11463115" y="6437136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35" name="组合 34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42" name="组合 41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43" name="椭圆 42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9" name="椭圆 38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8" name="椭圆 37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cxnSp>
        <p:nvCxnSpPr>
          <p:cNvPr id="47" name="直接连接符 46"/>
          <p:cNvCxnSpPr/>
          <p:nvPr userDrawn="1"/>
        </p:nvCxnSpPr>
        <p:spPr>
          <a:xfrm>
            <a:off x="738633" y="6022975"/>
            <a:ext cx="10714734" cy="0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47699" y="0"/>
            <a:ext cx="4591682" cy="6858000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13" name="矩形 1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5" name="矩形 14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5400000">
            <a:off x="73567" y="404367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22" name="组合 21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9" name="组合 2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4" name="组合 2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25" name="椭圆 2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80" name="组合 79"/>
          <p:cNvGrpSpPr/>
          <p:nvPr userDrawn="1"/>
        </p:nvGrpSpPr>
        <p:grpSpPr>
          <a:xfrm>
            <a:off x="864932" y="232313"/>
            <a:ext cx="4157217" cy="6457412"/>
            <a:chOff x="871643" y="252414"/>
            <a:chExt cx="4157217" cy="645741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876296" y="322792"/>
              <a:ext cx="4150183" cy="0"/>
            </a:xfrm>
            <a:prstGeom prst="line">
              <a:avLst/>
            </a:prstGeom>
            <a:ln w="28575">
              <a:solidFill>
                <a:schemeClr val="bg1">
                  <a:alpha val="50000"/>
                </a:schemeClr>
              </a:solidFill>
              <a:prstDash val="sysDot"/>
            </a:ln>
          </p:spPr>
        </p:cxnSp>
        <p:cxnSp>
          <p:nvCxnSpPr>
            <p:cNvPr id="47" name="直接连接符 46"/>
            <p:cNvCxnSpPr/>
            <p:nvPr userDrawn="1"/>
          </p:nvCxnSpPr>
          <p:spPr>
            <a:xfrm>
              <a:off x="871643" y="6608196"/>
              <a:ext cx="4157217" cy="0"/>
            </a:xfrm>
            <a:prstGeom prst="line">
              <a:avLst/>
            </a:prstGeom>
            <a:ln w="28575">
              <a:solidFill>
                <a:schemeClr val="bg1">
                  <a:alpha val="50000"/>
                </a:schemeClr>
              </a:solidFill>
              <a:prstDash val="sysDot"/>
            </a:ln>
          </p:spPr>
        </p:cxnSp>
        <p:grpSp>
          <p:nvGrpSpPr>
            <p:cNvPr id="17" name="组合 16"/>
            <p:cNvGrpSpPr/>
            <p:nvPr userDrawn="1"/>
          </p:nvGrpSpPr>
          <p:grpSpPr>
            <a:xfrm>
              <a:off x="950801" y="252414"/>
              <a:ext cx="3992022" cy="6457412"/>
              <a:chOff x="950801" y="252414"/>
              <a:chExt cx="3992022" cy="540399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950801" y="252414"/>
                <a:ext cx="0" cy="5403992"/>
              </a:xfrm>
              <a:prstGeom prst="line">
                <a:avLst/>
              </a:prstGeom>
              <a:ln w="28575">
                <a:solidFill>
                  <a:schemeClr val="bg1">
                    <a:alpha val="50000"/>
                  </a:schemeClr>
                </a:solidFill>
                <a:prstDash val="sysDot"/>
              </a:ln>
            </p:spPr>
          </p:cxnSp>
          <p:cxnSp>
            <p:nvCxnSpPr>
              <p:cNvPr id="48" name="直接连接符 47"/>
              <p:cNvCxnSpPr/>
              <p:nvPr userDrawn="1"/>
            </p:nvCxnSpPr>
            <p:spPr>
              <a:xfrm>
                <a:off x="4942823" y="256287"/>
                <a:ext cx="0" cy="5342654"/>
              </a:xfrm>
              <a:prstGeom prst="line">
                <a:avLst/>
              </a:prstGeom>
              <a:ln w="28575">
                <a:solidFill>
                  <a:schemeClr val="bg1">
                    <a:alpha val="50000"/>
                  </a:schemeClr>
                </a:solidFill>
                <a:prstDash val="sysDot"/>
              </a:ln>
            </p:spPr>
          </p:cxnSp>
        </p:grpSp>
      </p:grpSp>
      <p:grpSp>
        <p:nvGrpSpPr>
          <p:cNvPr id="62" name="组合 61"/>
          <p:cNvGrpSpPr/>
          <p:nvPr userDrawn="1"/>
        </p:nvGrpSpPr>
        <p:grpSpPr>
          <a:xfrm flipH="1" flipV="1">
            <a:off x="5239381" y="388811"/>
            <a:ext cx="647695" cy="3454155"/>
            <a:chOff x="0" y="2756145"/>
            <a:chExt cx="647695" cy="3454155"/>
          </a:xfrm>
        </p:grpSpPr>
        <p:sp>
          <p:nvSpPr>
            <p:cNvPr id="63" name="矩形 6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64" name="直接连接符 6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65" name="矩形 64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66" name="组合 65"/>
          <p:cNvGrpSpPr/>
          <p:nvPr userDrawn="1"/>
        </p:nvGrpSpPr>
        <p:grpSpPr>
          <a:xfrm rot="10800000" flipH="1" flipV="1">
            <a:off x="11463115" y="6437136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74" name="组合 7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5" name="椭圆 7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299862"/>
            <a:ext cx="12192000" cy="4258277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66" name="组合 65"/>
          <p:cNvGrpSpPr/>
          <p:nvPr userDrawn="1"/>
        </p:nvGrpSpPr>
        <p:grpSpPr>
          <a:xfrm rot="10800000" flipH="1" flipV="1">
            <a:off x="11463115" y="5822074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74" name="组合 7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5" name="椭圆 7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43" name="组合 42"/>
          <p:cNvGrpSpPr/>
          <p:nvPr userDrawn="1"/>
        </p:nvGrpSpPr>
        <p:grpSpPr>
          <a:xfrm rot="10800000">
            <a:off x="233318" y="789131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44" name="组合 43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53" name="组合 52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55" name="椭圆 54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54" name="椭圆 53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46" name="组合 45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49" name="椭圆 48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58" name="组合 57"/>
          <p:cNvGrpSpPr/>
          <p:nvPr userDrawn="1"/>
        </p:nvGrpSpPr>
        <p:grpSpPr>
          <a:xfrm flipH="1" flipV="1">
            <a:off x="11546618" y="388811"/>
            <a:ext cx="647695" cy="3454155"/>
            <a:chOff x="0" y="2756145"/>
            <a:chExt cx="647695" cy="3454155"/>
          </a:xfrm>
        </p:grpSpPr>
        <p:sp>
          <p:nvSpPr>
            <p:cNvPr id="59" name="矩形 58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61" name="矩形 60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79" name="组合 78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81" name="矩形 80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83" name="矩形 82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205548"/>
            <a:ext cx="721742" cy="6652452"/>
            <a:chOff x="0" y="205548"/>
            <a:chExt cx="721742" cy="6652452"/>
          </a:xfrm>
        </p:grpSpPr>
        <p:sp>
          <p:nvSpPr>
            <p:cNvPr id="90" name="矩形 89"/>
            <p:cNvSpPr/>
            <p:nvPr userDrawn="1"/>
          </p:nvSpPr>
          <p:spPr>
            <a:xfrm>
              <a:off x="0" y="5038725"/>
              <a:ext cx="233308" cy="1819275"/>
            </a:xfrm>
            <a:prstGeom prst="rect">
              <a:avLst/>
            </a:prstGeom>
            <a:solidFill>
              <a:srgbClr val="9FC1F1">
                <a:alpha val="3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89" name="矩形 88"/>
            <p:cNvSpPr/>
            <p:nvPr userDrawn="1"/>
          </p:nvSpPr>
          <p:spPr>
            <a:xfrm>
              <a:off x="91453" y="5479519"/>
              <a:ext cx="170667" cy="1378481"/>
            </a:xfrm>
            <a:prstGeom prst="rect">
              <a:avLst/>
            </a:prstGeom>
            <a:solidFill>
              <a:srgbClr val="9FC1F1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88" name="矩形 87"/>
            <p:cNvSpPr/>
            <p:nvPr userDrawn="1"/>
          </p:nvSpPr>
          <p:spPr>
            <a:xfrm>
              <a:off x="187990" y="5194300"/>
              <a:ext cx="265200" cy="1663700"/>
            </a:xfrm>
            <a:prstGeom prst="rect">
              <a:avLst/>
            </a:prstGeom>
            <a:solidFill>
              <a:srgbClr val="90C3F4"/>
            </a:solidFill>
            <a:ln>
              <a:noFill/>
            </a:ln>
            <a:effectLst>
              <a:glow rad="63500">
                <a:schemeClr val="bg1">
                  <a:lumMod val="85000"/>
                  <a:alpha val="20000"/>
                </a:schemeClr>
              </a:glow>
            </a:effectLst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grpSp>
          <p:nvGrpSpPr>
            <p:cNvPr id="37" name="组合 36"/>
            <p:cNvGrpSpPr/>
            <p:nvPr userDrawn="1"/>
          </p:nvGrpSpPr>
          <p:grpSpPr>
            <a:xfrm rot="10800000">
              <a:off x="233318" y="205548"/>
              <a:ext cx="488424" cy="208662"/>
              <a:chOff x="647695" y="327322"/>
              <a:chExt cx="488424" cy="208662"/>
            </a:xfrm>
            <a:solidFill>
              <a:schemeClr val="bg1">
                <a:lumMod val="85000"/>
                <a:alpha val="50000"/>
              </a:schemeClr>
            </a:solidFill>
          </p:grpSpPr>
          <p:grpSp>
            <p:nvGrpSpPr>
              <p:cNvPr id="38" name="组合 37"/>
              <p:cNvGrpSpPr/>
              <p:nvPr/>
            </p:nvGrpSpPr>
            <p:grpSpPr>
              <a:xfrm>
                <a:off x="647695" y="45958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64" name="椭圆 63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65" name="椭圆 64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80" name="椭圆 79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63" name="椭圆 62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647695" y="32732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40" name="组合 39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42" name="椭圆 41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47" name="椭圆 46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48" name="椭圆 47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41" name="椭圆 40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84" name="组合 83"/>
            <p:cNvGrpSpPr/>
            <p:nvPr userDrawn="1"/>
          </p:nvGrpSpPr>
          <p:grpSpPr>
            <a:xfrm>
              <a:off x="0" y="3021742"/>
              <a:ext cx="513420" cy="3415394"/>
              <a:chOff x="134275" y="2794906"/>
              <a:chExt cx="513420" cy="3415394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134275" y="5476240"/>
                <a:ext cx="513420" cy="327660"/>
              </a:xfrm>
              <a:prstGeom prst="rect">
                <a:avLst/>
              </a:prstGeom>
              <a:solidFill>
                <a:srgbClr val="193A5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  <p:cxnSp>
            <p:nvCxnSpPr>
              <p:cNvPr id="86" name="直接连接符 85"/>
              <p:cNvCxnSpPr/>
              <p:nvPr/>
            </p:nvCxnSpPr>
            <p:spPr>
              <a:xfrm flipV="1">
                <a:off x="449263" y="4648200"/>
                <a:ext cx="0" cy="1562100"/>
              </a:xfrm>
              <a:prstGeom prst="line">
                <a:avLst/>
              </a:prstGeom>
              <a:ln w="25400" cap="rnd">
                <a:solidFill>
                  <a:srgbClr val="193A5D"/>
                </a:solidFill>
                <a:round/>
              </a:ln>
            </p:spPr>
          </p:cxnSp>
          <p:sp>
            <p:nvSpPr>
              <p:cNvPr id="87" name="矩形 86"/>
              <p:cNvSpPr/>
              <p:nvPr/>
            </p:nvSpPr>
            <p:spPr>
              <a:xfrm rot="16200000">
                <a:off x="-421849" y="3539020"/>
                <a:ext cx="17652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spc="300" dirty="0">
                    <a:solidFill>
                      <a:srgbClr val="19395F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Segoe UI" panose="020B0502040204020203" pitchFamily="34" charset="0"/>
                    <a:sym typeface="思源黑体 Normal" panose="020B0400000000000000" pitchFamily="34" charset="-122"/>
                  </a:rPr>
                  <a:t>SELF STUDENTS</a:t>
                </a:r>
                <a:endParaRPr lang="zh-CN" altLang="en-US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91" name="组合 90"/>
          <p:cNvGrpSpPr/>
          <p:nvPr userDrawn="1"/>
        </p:nvGrpSpPr>
        <p:grpSpPr>
          <a:xfrm flipH="1" flipV="1">
            <a:off x="11467042" y="0"/>
            <a:ext cx="721742" cy="6652452"/>
            <a:chOff x="0" y="205548"/>
            <a:chExt cx="721742" cy="6652452"/>
          </a:xfrm>
        </p:grpSpPr>
        <p:sp>
          <p:nvSpPr>
            <p:cNvPr id="92" name="矩形 91"/>
            <p:cNvSpPr/>
            <p:nvPr userDrawn="1"/>
          </p:nvSpPr>
          <p:spPr>
            <a:xfrm>
              <a:off x="0" y="5038725"/>
              <a:ext cx="233308" cy="1819275"/>
            </a:xfrm>
            <a:prstGeom prst="rect">
              <a:avLst/>
            </a:prstGeom>
            <a:solidFill>
              <a:srgbClr val="9FC1F1">
                <a:alpha val="3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93" name="矩形 92"/>
            <p:cNvSpPr/>
            <p:nvPr userDrawn="1"/>
          </p:nvSpPr>
          <p:spPr>
            <a:xfrm>
              <a:off x="91453" y="5479519"/>
              <a:ext cx="170667" cy="1378481"/>
            </a:xfrm>
            <a:prstGeom prst="rect">
              <a:avLst/>
            </a:prstGeom>
            <a:solidFill>
              <a:srgbClr val="9FC1F1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94" name="矩形 93"/>
            <p:cNvSpPr/>
            <p:nvPr userDrawn="1"/>
          </p:nvSpPr>
          <p:spPr>
            <a:xfrm>
              <a:off x="187990" y="5194300"/>
              <a:ext cx="265200" cy="1663700"/>
            </a:xfrm>
            <a:prstGeom prst="rect">
              <a:avLst/>
            </a:prstGeom>
            <a:solidFill>
              <a:srgbClr val="90C3F4"/>
            </a:solidFill>
            <a:ln>
              <a:noFill/>
            </a:ln>
            <a:effectLst>
              <a:glow rad="63500">
                <a:schemeClr val="bg1">
                  <a:lumMod val="85000"/>
                  <a:alpha val="20000"/>
                </a:schemeClr>
              </a:glow>
            </a:effectLst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grpSp>
          <p:nvGrpSpPr>
            <p:cNvPr id="95" name="组合 94"/>
            <p:cNvGrpSpPr/>
            <p:nvPr userDrawn="1"/>
          </p:nvGrpSpPr>
          <p:grpSpPr>
            <a:xfrm rot="10800000">
              <a:off x="233318" y="205548"/>
              <a:ext cx="488424" cy="208662"/>
              <a:chOff x="647695" y="327322"/>
              <a:chExt cx="488424" cy="208662"/>
            </a:xfrm>
            <a:solidFill>
              <a:schemeClr val="bg1">
                <a:lumMod val="85000"/>
                <a:alpha val="50000"/>
              </a:schemeClr>
            </a:solidFill>
          </p:grpSpPr>
          <p:grpSp>
            <p:nvGrpSpPr>
              <p:cNvPr id="100" name="组合 99"/>
              <p:cNvGrpSpPr/>
              <p:nvPr/>
            </p:nvGrpSpPr>
            <p:grpSpPr>
              <a:xfrm>
                <a:off x="647695" y="45958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107" name="组合 106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109" name="椭圆 108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10" name="椭圆 109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11" name="椭圆 110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108" name="椭圆 107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647695" y="32732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102" name="组合 101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104" name="椭圆 103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05" name="椭圆 104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06" name="椭圆 105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103" name="椭圆 102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96" name="组合 95"/>
            <p:cNvGrpSpPr/>
            <p:nvPr userDrawn="1"/>
          </p:nvGrpSpPr>
          <p:grpSpPr>
            <a:xfrm>
              <a:off x="0" y="3021742"/>
              <a:ext cx="513420" cy="3415394"/>
              <a:chOff x="134275" y="2794906"/>
              <a:chExt cx="513420" cy="3415394"/>
            </a:xfrm>
          </p:grpSpPr>
          <p:sp>
            <p:nvSpPr>
              <p:cNvPr id="97" name="矩形 96"/>
              <p:cNvSpPr/>
              <p:nvPr/>
            </p:nvSpPr>
            <p:spPr>
              <a:xfrm>
                <a:off x="134275" y="5476240"/>
                <a:ext cx="513420" cy="327660"/>
              </a:xfrm>
              <a:prstGeom prst="rect">
                <a:avLst/>
              </a:prstGeom>
              <a:solidFill>
                <a:srgbClr val="193A5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  <p:cxnSp>
            <p:nvCxnSpPr>
              <p:cNvPr id="98" name="直接连接符 97"/>
              <p:cNvCxnSpPr/>
              <p:nvPr/>
            </p:nvCxnSpPr>
            <p:spPr>
              <a:xfrm flipV="1">
                <a:off x="449263" y="4648200"/>
                <a:ext cx="0" cy="1562100"/>
              </a:xfrm>
              <a:prstGeom prst="line">
                <a:avLst/>
              </a:prstGeom>
              <a:ln w="25400" cap="rnd">
                <a:solidFill>
                  <a:srgbClr val="193A5D"/>
                </a:solidFill>
                <a:round/>
              </a:ln>
            </p:spPr>
          </p:cxnSp>
          <p:sp>
            <p:nvSpPr>
              <p:cNvPr id="99" name="矩形 98"/>
              <p:cNvSpPr/>
              <p:nvPr/>
            </p:nvSpPr>
            <p:spPr>
              <a:xfrm rot="16200000">
                <a:off x="-421849" y="3539020"/>
                <a:ext cx="17652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spc="300" dirty="0">
                    <a:solidFill>
                      <a:srgbClr val="19395F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Segoe UI" panose="020B0502040204020203" pitchFamily="34" charset="0"/>
                    <a:sym typeface="思源黑体 Normal" panose="020B0400000000000000" pitchFamily="34" charset="-122"/>
                  </a:rPr>
                  <a:t>SELF STUDENTS</a:t>
                </a:r>
                <a:endParaRPr lang="zh-CN" altLang="en-US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36.xml"/><Relationship Id="rId3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93D2807F-E77D-47AF-BE97-7F279468F5B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半导体刻蚀工艺良率分析报告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基于10,000条工艺数据的设备·参数·良率深度分析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数据分析团队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2025年6月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半导体刻蚀工艺良率分析报告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基于10,000条工艺数据的设备·参数·良率深度分析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数据分析团队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2025年6月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数据概况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10,000条记录·31个字段·100%完整度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核心结论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全局良率83.8%·关键影响因素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设备良率排名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ETCH08 86.33%领先·ETCH01 82.06%垫底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时间趋势分析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28个月良率波动·全厂性低谷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交叉维度分析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设备×腔室·设备×配方·晶圆差异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943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关键影响因素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989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厚度均匀性44.7%·缺陷密度29.5%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583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6858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858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质量分组分析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6903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优质组94.27%·高风险组31.73%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7498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7772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7772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聚类分析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7818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4类工艺群体·高风险簇识别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8412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8686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8686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行动建议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8732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8项优先级行动项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9326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数据概况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数据完整度100%·覆盖8台设备·28个月跨度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数据集概览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总记录数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3716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字段数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30430" y="1371600"/>
            <a:ext cx="50292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04750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04750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数据完整度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29885" y="13716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04205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4205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刻蚀设备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29340" y="1371600"/>
            <a:ext cx="50292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03660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28个月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03660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时间跨度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28795" y="13716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03115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83.8%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03115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全局平均良率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数据维度详情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45003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98281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设备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ETCH01~ETCH08 共8台刻蚀设备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9403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1280160"/>
            <a:ext cx="2545003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165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腔室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5163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2283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CH1~CH4 共4个工艺腔室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80160"/>
            <a:ext cx="2545003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54049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配方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047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RECIPE_A~F 共6种工艺配方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171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171" y="1280160"/>
            <a:ext cx="2545003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81933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051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晶圆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0931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051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25片晶圆·每片360~430条记录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良率差距扩大·关键参数锁定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核心发现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全局良率83.8%，设备间差距从15个百分点扩大至25~30个百分点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设备良率差距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ETCH08（86.33%）领先ETCH01（82.06%）4.27个百分点，且差距随时间扩大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关键影响因素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厚度均匀性（权重44.7%）+ 缺陷密度（29.5%）合计解释74.2%的良率变化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质量分组验证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优质组（均匀性≤2.5%且缺陷≤0.05）良率94.27%，高风险组仅31.73%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2920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全厂性低谷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2920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2027年1月（79.84%）和2028年1月（78.55%）出现系统性良率骤降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778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58521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85216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最佳实践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852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ETCH08×CH1（88.33%）和ETCH02×RECIPE_B（89.34%）为最优组合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00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设备良率排名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ETCH08领先·ETCH01持续恶化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各设备良率与工艺参数对比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418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685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951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刻蚀深度(Å)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218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刻蚀速率(Å/s)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845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厚度均匀性%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7510" y="1280160"/>
            <a:ext cx="153266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缺陷密度/cm²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4185" y="1783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6850" y="1783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9515" y="1783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3,002.1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180" y="1783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24.98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845" y="1783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2.36%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7510" y="1783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0.0502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3545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354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4185" y="2354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6850" y="2354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86.02%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9515" y="2354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2,993.3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2180" y="2354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24.85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845" y="2354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2.33%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7510" y="2354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0.0482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926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4185" y="2926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6850" y="2926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84.03%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9515" y="2926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3,000.0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2180" y="2926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25.06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845" y="2926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2.37%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7510" y="2926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0.0513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4975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497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4185" y="3497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6850" y="3497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83.79%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9515" y="3497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2,995.5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180" y="3497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24.97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845" y="3497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2.43%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7510" y="3497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0.0505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069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069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64185" y="4069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6850" y="4069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83.48%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29515" y="4069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2,994.1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62180" y="4069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24.96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845" y="4069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2.35%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7510" y="4069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0.0491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46405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4640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64185" y="4640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6850" y="4640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82.63%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29515" y="4640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3,002.2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62180" y="4640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25.15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94845" y="4640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2.37%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7510" y="4640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0.0508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212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212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64185" y="5212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6850" y="5212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82.14%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29515" y="5212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2,999.2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62180" y="5212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25.06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94845" y="5212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2.41%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7510" y="52120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0.0486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57835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5783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64185" y="5783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6850" y="5783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82.06%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29515" y="5783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3,000.7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62180" y="5783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25.03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94845" y="5783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2.45%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27510" y="5783580"/>
            <a:ext cx="1532665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0.0508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" y="635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设备良率关键洞察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设备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良率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关键问题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ETCH08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86.33%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➡️ 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综合最优，可作为标杆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86.02%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➡️ 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6974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刻蚀速率最低(24.85)，工艺控制最佳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118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ETCH01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82.06%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⬇️ 持续下降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6118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均匀性最差(2.45%)，建议深度维护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262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ETCH05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82.14%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⬇️ 波动大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5262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缺陷密度最低(0.0486)但良率低，需排查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4406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ETCH07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82.63%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⬇️ 后期下滑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440680"/>
            <a:ext cx="164592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刻蚀速率最高(25.15)，可能过刻蚀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ETCH06刻蚀速率最慢(24.85Å/s)但良率第二高，较慢速率可能带来更好工艺控制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ETCH01厚度均匀性最差(2.45%)，与良率最低直接相关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设备间工艺参数均值差异不大，但良率差异显著，说明存在非线性因素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时间趋势分析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28个月良率波动·两次全厂性低谷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月度良率趋势（2026.04 ~ 2028.07）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月度良率趋势（2026.04 ~ 2028.07）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143000"/>
            <a:ext cx="182880" cy="182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良率%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6172200"/>
            <a:ext cx="905256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5940" y="2249470"/>
            <a:ext cx="320040" cy="392273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0220" y="2020870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1780" y="2258889"/>
            <a:ext cx="320040" cy="3913311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6060" y="2030289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2026Q3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7620" y="2169414"/>
            <a:ext cx="320040" cy="400278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0" y="194081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2026Q4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23460" y="2296562"/>
            <a:ext cx="320040" cy="387563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7740" y="2067962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82.3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2027Q1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9300" y="2141160"/>
            <a:ext cx="320040" cy="40310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3580" y="1912560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85.6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2027Q2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5140" y="2183542"/>
            <a:ext cx="320040" cy="398865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9420" y="1954942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84.7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2027Q3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40980" y="2174124"/>
            <a:ext cx="320040" cy="399807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5260" y="194552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84.9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2027Q4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46820" y="2320108"/>
            <a:ext cx="320040" cy="385209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1100" y="2091508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81.8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2028Q1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52660" y="2249470"/>
            <a:ext cx="320040" cy="392273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6940" y="2020870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2028Q2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时间趋势关键发现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时间节点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良率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事件描述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2026年10月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85.98%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多台设备冲高，ETCH02达93.2%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2027年1月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79.84%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全厂性低谷，ETCH01仅77.8%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2027年8月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86.83%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ETCH07达峰值95.0%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2028年1月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78.55%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历史最低点，ETCH05仅66.7%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406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2028年7月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86.09%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近期回升，但样本量较少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2027年1月和2028年1月出现全厂性同步低谷，暗示存在共因因素（原材料批次/环境/维护周期）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设备间差距从2026年的~15个百分点扩大至2028年的~25个百分点，设备老化或维护差异加剧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ETCH01从~83%持续下滑至69~77%，建议优先安排深度维护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交叉维度分析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设备×腔室·设备×配方·晶圆差异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设备×腔室 良率排名 Top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7251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2982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腔室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713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良率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14444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样本数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7251" y="1783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2982" y="1783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713" y="1783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88.33%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4444" y="1783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40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40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7251" y="2240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2982" y="2240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713" y="2240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4444" y="2240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97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697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77251" y="2697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2982" y="2697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713" y="2697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4444" y="2697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154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154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7251" y="3154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2982" y="3154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713" y="3154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86.59%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4444" y="3154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343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611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611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77251" y="3611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2982" y="3611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713" y="3611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86.53%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4444" y="3611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297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069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069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77251" y="4069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2982" y="4069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8713" y="4069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86.06%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4444" y="4069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287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526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526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77251" y="4526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2982" y="4526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8713" y="4526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85.71%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14444" y="4526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4983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4983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77251" y="4983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2982" y="4983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68713" y="4983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85.32%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14444" y="4983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5440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440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77251" y="5440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2982" y="5440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68713" y="5440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84.79%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14444" y="5440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5897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897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77251" y="5897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2982" y="5897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68713" y="5897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84.72%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14444" y="5897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288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635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设备×配方 良率排名 Top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7251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2982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配方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713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良率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14444" y="1280160"/>
            <a:ext cx="214573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样本数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7251" y="1783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2982" y="1783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713" y="1783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89.34%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4444" y="1783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40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40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7251" y="2240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2982" y="2240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713" y="2240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88.61%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4444" y="2240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97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697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77251" y="2697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2982" y="2697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713" y="2697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88.35%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4444" y="2697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154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154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7251" y="3154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2982" y="3154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713" y="3154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87.96%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4444" y="3154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611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611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77251" y="3611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2982" y="3611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713" y="3611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87.92%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4444" y="3611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069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069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77251" y="4069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2982" y="4069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8713" y="4069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87.56%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4444" y="40690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193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526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526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77251" y="4526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2982" y="4526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8713" y="4526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86.83%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14444" y="45262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4983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4983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77251" y="4983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2982" y="4983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68713" y="4983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86.57%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14444" y="49834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5440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440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77251" y="5440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2982" y="5440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68713" y="5440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86.55%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14444" y="54406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238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5897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897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77251" y="5897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2982" y="5897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RECIPE_B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68713" y="5897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14444" y="5897880"/>
            <a:ext cx="2145731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230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635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交叉维度关键发现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280160"/>
            <a:ext cx="10972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最佳组合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80160"/>
            <a:ext cx="10972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280160"/>
            <a:ext cx="10972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最差组合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280160"/>
            <a:ext cx="10972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良率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109728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差距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设备×腔室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8308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ETCH08×CH1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8308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88.33%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78308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ETCH05×CH4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8308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78.37%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8308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9.96%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设备×配方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20040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ETCH02×RECIPE_B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20040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89.34%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20040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ETCH04×RECIPE_E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20040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79.62%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0040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9.72%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晶圆差异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61772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Wafer 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61772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86.56%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61772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Wafer 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61772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79.27%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617720"/>
            <a:ext cx="109728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7.29%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Chevron 31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同一配方在不同设备上良率差异可达8~10个百分点，建议配方定制化调参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仅Wafer 24在统计上显著低于均值（p&lt;0.05），建议追溯来料批次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ETCH05×CH4组合仅78.37%，比最佳组合低近10个百分点，需重点排查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关键影响因素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决策树C4.5分析·厚度均匀性+缺陷密度贡献74.2%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决策树模型表现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89.57%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训练准确率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3716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76.40%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测试准确率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30430" y="1371600"/>
            <a:ext cx="50292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04750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0.652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04750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29885" y="13716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04205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5层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4205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树深度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特征重要性分布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11999"/>
              <a:gd name="adj2" fmla="val 5400000"/>
              <a:gd name="adj3" fmla="val 5200"/>
            </a:avLst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7344800"/>
              <a:gd name="adj2" fmla="val 5400000"/>
              <a:gd name="adj3" fmla="val 52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0972800"/>
              <a:gd name="adj2" fmla="val 17344800"/>
              <a:gd name="adj3" fmla="val 5200"/>
            </a:avLst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6998399"/>
              <a:gd name="adj2" fmla="val 10972800"/>
              <a:gd name="adj3" fmla="val 5200"/>
            </a:avLst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00000"/>
              <a:gd name="adj2" fmla="val 6998399"/>
              <a:gd name="adj3" fmla="val 5200"/>
            </a:avLst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01752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74.2%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383280"/>
            <a:ext cx="1645920" cy="2377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核心贡献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728216"/>
            <a:ext cx="256032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691640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厚度均匀性 44.7%  44%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441448"/>
            <a:ext cx="256032" cy="25603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2404872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缺陷密度 29.5%  29%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154680"/>
            <a:ext cx="256032" cy="256032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3118104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CF₄流量 18.4%  18%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867912"/>
            <a:ext cx="256032" cy="25603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831336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其他 7.4%  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20/29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质量分组分析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优质组良率94.27% vs 高风险组31.73%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21/29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质量分组良率对比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质量分组良率对比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463040"/>
            <a:ext cx="182880" cy="182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14630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良品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1463040"/>
            <a:ext cx="182880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417320"/>
            <a:ext cx="14630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不良品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4919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508635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6334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00050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749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91465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69164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182880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6172200"/>
            <a:ext cx="905256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3160" y="2077677"/>
            <a:ext cx="1097280" cy="4094523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2077677"/>
            <a:ext cx="1097280" cy="4094523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94.27%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1828800"/>
            <a:ext cx="1097280" cy="2488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621792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优质组</a:t>
            </a:r>
            <a:br/>
            <a:r>
              <a:rPr>
                <a:ea typeface="KaiTi"/>
              </a:rPr>
              <a:t>(均匀性≤2.5%+缺陷≤0.05)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2845590"/>
            <a:ext cx="1097280" cy="332661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2845590"/>
            <a:ext cx="1097280" cy="332661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76.59%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80" y="1828800"/>
            <a:ext cx="1097280" cy="101678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1828800"/>
            <a:ext cx="1097280" cy="1016789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23.41%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21792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中等组</a:t>
            </a:r>
            <a:br/>
            <a:r>
              <a:rPr>
                <a:ea typeface="KaiTi"/>
              </a:rPr>
              <a:t>(其余)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4794040"/>
            <a:ext cx="1097280" cy="13781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794040"/>
            <a:ext cx="1097280" cy="13781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31.73%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1828800"/>
            <a:ext cx="1097280" cy="296523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1828800"/>
            <a:ext cx="1097280" cy="2965239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68.27%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621792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高风险组</a:t>
            </a:r>
            <a:br/>
            <a:r>
              <a:rPr>
                <a:ea typeface="KaiTi"/>
              </a:rPr>
              <a:t>(均匀性&gt;4%+缺陷&gt;0.08)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22/29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质量分组详情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分组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3683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占比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011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特征描述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优质组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46.1%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94.27%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011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均匀性≤2.5% 且 缺陷密度≤0.05/cm²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中等组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683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51.9%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76.59%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011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至少一项超标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高风险组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3683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31.73%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011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均匀性&gt;4% 或 缺陷密度&gt;0.08/cm²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23/29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聚类分析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K-Means K=4·识别出高风险工艺簇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24/29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K-Means 聚类结果（K=4）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629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占比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738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厚度均匀性均值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缺陷密度均值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3956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良率纯度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2065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风险等级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629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2.02%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0.031/cm²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3956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2065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✅ 优质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9629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7738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2.05%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0.037/cm²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56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2065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✅ 良好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9629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14.1%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7738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2.08%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0.144/cm²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3956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2065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⚠️ 风险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9629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7738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5.30%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5847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0.044/cm²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3956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2065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🔴 高风险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25/29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聚类分析关键发现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行动建议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C0+C1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均匀性~2.0%，缺陷~0.03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8308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维持当前工艺参数，作为标准化基准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20040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缺陷密度异常高(0.144)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20040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63%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20040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排查颗粒污染源，加强腔室清洁频率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1772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61772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均匀性异常高(5.30%)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61772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61%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617720"/>
            <a:ext cx="164592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检查气体分布均匀性，调整射频功率分布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C3簇（10.5%）厚度均匀性均值5.30%，是正常值的2.6倍，良率仅61%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C2簇（14.1%）缺陷密度0.144/cm²，是正常值的4.6倍，需重点排查颗粒污染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优质簇（C0+C1）合计占75.3%，良率94%，可作为工艺标准化的目标区间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26/29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行动建议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8项优先级行动项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27/29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行动建议与预期收益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ETCH01深度维护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1个月内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安排ETCH01部件更换与全面维护，其良率已从83%持续下滑至70%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负责人：设备维护团队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5461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2621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厚度均匀性管控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5461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2621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持续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2621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将均匀性目标控制在2.5%以内（权重44.7%），优质组良率可达94.27%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69781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32621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负责人：工艺工程团队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9403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6563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缺陷密度管控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9403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6563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持续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6563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将缺陷密度目标控制在0.05/cm²以下（权重29.5%），加强腔室清洁频率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33723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6563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负责人：工艺工程团队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23345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0505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ETCH05×CH4排查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23345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0505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2周内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0505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该组合良率仅78.37%，比最佳组合低10个百分点，需专项排查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97665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60505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负责人：设备维护团队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7287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4447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配方适配优化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7287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4447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1个月内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4447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同一配方在不同设备上良率差异达8~10%，建议为不同设备定制化调参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1607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4447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负责人：工艺工程团队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51229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8389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Wafer 24来料追溯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51229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8389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2周内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8389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该晶圆良率79.27%统计显著偏低，排查原材料批次问题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25549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8389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负责人：质量保证团队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5171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331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全厂共因排查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171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331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1个月内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331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分析2027年1月和2028年1月全厂性低谷根因（原材料/环境/维护周期）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491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331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负责人：跨部门团队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79113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16273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ETCH08最佳实践推广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79113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16273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2个月内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16273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将ETCH08的维护周期和参数设置标准化，推广至其他设备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53433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16273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负责人：工艺工程团队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28/29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基于数据驱动的工艺优化，目标将全局良率从83.8%提升至90%+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M0ZGRiNGFjMzkzZWVjNjQxMDJlMzkyNDg0ZmE4Y2Q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自定义 1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66BE8"/>
      </a:accent1>
      <a:accent2>
        <a:srgbClr val="73A6F2"/>
      </a:accent2>
      <a:accent3>
        <a:srgbClr val="646464"/>
      </a:accent3>
      <a:accent4>
        <a:srgbClr val="828282"/>
      </a:accent4>
      <a:accent5>
        <a:srgbClr val="A5A5A5"/>
      </a:accent5>
      <a:accent6>
        <a:srgbClr val="C9C9C9"/>
      </a:accent6>
      <a:hlink>
        <a:srgbClr val="4472C4"/>
      </a:hlink>
      <a:folHlink>
        <a:srgbClr val="BFBFBF"/>
      </a:folHlink>
    </a:clrScheme>
    <a:fontScheme name="31s3s1st">
      <a:majorFont>
        <a:latin typeface="OPPOSans B"/>
        <a:ea typeface="OPPOSans R"/>
        <a:cs typeface=""/>
      </a:majorFont>
      <a:minorFont>
        <a:latin typeface="OPPOSans B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OPPOSans R</vt:lpstr>
      <vt:lpstr>思源黑体 Normal</vt:lpstr>
      <vt:lpstr>微软雅黑</vt:lpstr>
      <vt:lpstr>Arial</vt:lpstr>
      <vt:lpstr>第一PPT，www.1ppt.com</vt:lpstr>
      <vt:lpstr>第一PPT，www.1ppt.com 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自我介绍</dc:title>
  <dc:creator>Jiaze Liu</dc:creator>
  <cp:keywords>www.1ppt.com</cp:keywords>
  <dc:description>www.1ppt.com</dc:description>
  <cp:lastModifiedBy>Jiaze Liu</cp:lastModifiedBy>
  <cp:revision>236</cp:revision>
  <dcterms:created xsi:type="dcterms:W3CDTF">2021-05-31T01:54:00Z</dcterms:created>
  <dcterms:modified xsi:type="dcterms:W3CDTF">2026-05-10T09:31:18Z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B531B7DEF71547C5A317E51F03D3C376_12</vt:lpwstr>
  </property>
  <property fmtid="{D5CDD505-2E9C-101B-9397-08002B2CF9AE}" pid="3" name="KSOProductBuildVer">
    <vt:lpwstr>2052-12.1.0.23542</vt:lpwstr>
  </property>
</Properties>
</file>