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87" r:id="rId3"/>
  </p:sldMasterIdLst>
  <p:notesMasterIdLst>
    <p:notesMasterId r:id="rId5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6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1F3"/>
    <a:srgbClr val="90C3F4"/>
    <a:srgbClr val="193A5D"/>
    <a:srgbClr val="9FC1F1"/>
    <a:srgbClr val="8D9DAE"/>
    <a:srgbClr val="DFE9F8"/>
    <a:srgbClr val="C0D4F3"/>
    <a:srgbClr val="1F4773"/>
    <a:srgbClr val="F7F7F7"/>
    <a:srgbClr val="1939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0" autoAdjust="0"/>
    <p:restoredTop sz="89829" autoAdjust="0"/>
  </p:normalViewPr>
  <p:slideViewPr>
    <p:cSldViewPr snapToGrid="0" showGuides="1">
      <p:cViewPr varScale="1">
        <p:scale>
          <a:sx n="79" d="100"/>
          <a:sy n="79" d="100"/>
        </p:scale>
        <p:origin x="531" y="51"/>
      </p:cViewPr>
      <p:guideLst>
        <p:guide orient="horz" pos="1546"/>
        <p:guide pos="37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tags" Target="tags/tag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28A30-6942-45B9-BDA3-CE06E8D47C9A}" type="datetimeFigureOut">
              <a:rPr lang="zh-CN" altLang="en-US" smtClean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rPr>
              <a:t>2026/5/10</a:t>
            </a:fld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44F25-971A-4988-8BFD-ED1440144595}" type="slidenum">
              <a:rPr lang="zh-CN" altLang="en-US" smtClean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rPr>
              <a:t>‹#›</a:t>
            </a:fld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1ppt.com/hangye/" TargetMode="Externa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47700" y="647700"/>
            <a:ext cx="10896600" cy="5562600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 flipH="1" flipV="1">
            <a:off x="11546618" y="388811"/>
            <a:ext cx="647695" cy="3454155"/>
            <a:chOff x="0" y="2756145"/>
            <a:chExt cx="647695" cy="3454155"/>
          </a:xfrm>
        </p:grpSpPr>
        <p:sp>
          <p:nvSpPr>
            <p:cNvPr id="9" name="矩形 8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1" name="矩形 10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13" name="矩形 1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5" name="矩形 14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820172" y="753800"/>
            <a:ext cx="0" cy="5350401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cxnSp>
        <p:nvCxnSpPr>
          <p:cNvPr id="19" name="直接连接符 18"/>
          <p:cNvCxnSpPr/>
          <p:nvPr/>
        </p:nvCxnSpPr>
        <p:spPr>
          <a:xfrm>
            <a:off x="736141" y="809444"/>
            <a:ext cx="10719719" cy="0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cxnSp>
        <p:nvCxnSpPr>
          <p:cNvPr id="20" name="直接连接符 19"/>
          <p:cNvCxnSpPr/>
          <p:nvPr userDrawn="1"/>
        </p:nvCxnSpPr>
        <p:spPr>
          <a:xfrm>
            <a:off x="11386027" y="757673"/>
            <a:ext cx="0" cy="5342654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  <p:grpSp>
        <p:nvGrpSpPr>
          <p:cNvPr id="21" name="组合 20"/>
          <p:cNvGrpSpPr/>
          <p:nvPr userDrawn="1"/>
        </p:nvGrpSpPr>
        <p:grpSpPr>
          <a:xfrm rot="10800000">
            <a:off x="233318" y="205548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22" name="组合 21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9" name="组合 2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4" name="组合 2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25" name="椭圆 2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34" name="组合 33"/>
          <p:cNvGrpSpPr/>
          <p:nvPr userDrawn="1"/>
        </p:nvGrpSpPr>
        <p:grpSpPr>
          <a:xfrm rot="10800000" flipH="1" flipV="1">
            <a:off x="11463115" y="6437136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35" name="组合 34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42" name="组合 41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44" name="椭圆 43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43" name="椭圆 42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9" name="椭圆 38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8" name="椭圆 37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cxnSp>
        <p:nvCxnSpPr>
          <p:cNvPr id="47" name="直接连接符 46"/>
          <p:cNvCxnSpPr/>
          <p:nvPr userDrawn="1"/>
        </p:nvCxnSpPr>
        <p:spPr>
          <a:xfrm>
            <a:off x="738633" y="6022975"/>
            <a:ext cx="10714734" cy="0"/>
          </a:xfrm>
          <a:prstGeom prst="line">
            <a:avLst/>
          </a:prstGeom>
          <a:ln w="28575">
            <a:solidFill>
              <a:schemeClr val="bg1">
                <a:alpha val="50000"/>
              </a:schemeClr>
            </a:solidFill>
            <a:prstDash val="sysDot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47699" y="0"/>
            <a:ext cx="4591682" cy="6858000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13" name="矩形 1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15" name="矩形 14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 rot="5400000">
            <a:off x="73567" y="404367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22" name="组合 21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9" name="组合 2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24" name="组合 2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26" name="椭圆 2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25" name="椭圆 2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80" name="组合 79"/>
          <p:cNvGrpSpPr/>
          <p:nvPr userDrawn="1"/>
        </p:nvGrpSpPr>
        <p:grpSpPr>
          <a:xfrm>
            <a:off x="864932" y="232313"/>
            <a:ext cx="4157217" cy="6457412"/>
            <a:chOff x="871643" y="252414"/>
            <a:chExt cx="4157217" cy="645741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876296" y="322792"/>
              <a:ext cx="4150183" cy="0"/>
            </a:xfrm>
            <a:prstGeom prst="line">
              <a:avLst/>
            </a:prstGeom>
            <a:ln w="28575">
              <a:solidFill>
                <a:schemeClr val="bg1">
                  <a:alpha val="50000"/>
                </a:schemeClr>
              </a:solidFill>
              <a:prstDash val="sysDot"/>
            </a:ln>
          </p:spPr>
        </p:cxnSp>
        <p:cxnSp>
          <p:nvCxnSpPr>
            <p:cNvPr id="47" name="直接连接符 46"/>
            <p:cNvCxnSpPr/>
            <p:nvPr userDrawn="1"/>
          </p:nvCxnSpPr>
          <p:spPr>
            <a:xfrm>
              <a:off x="871643" y="6608196"/>
              <a:ext cx="4157217" cy="0"/>
            </a:xfrm>
            <a:prstGeom prst="line">
              <a:avLst/>
            </a:prstGeom>
            <a:ln w="28575">
              <a:solidFill>
                <a:schemeClr val="bg1">
                  <a:alpha val="50000"/>
                </a:schemeClr>
              </a:solidFill>
              <a:prstDash val="sysDot"/>
            </a:ln>
          </p:spPr>
        </p:cxnSp>
        <p:grpSp>
          <p:nvGrpSpPr>
            <p:cNvPr id="17" name="组合 16"/>
            <p:cNvGrpSpPr/>
            <p:nvPr userDrawn="1"/>
          </p:nvGrpSpPr>
          <p:grpSpPr>
            <a:xfrm>
              <a:off x="950801" y="252414"/>
              <a:ext cx="3992022" cy="6457412"/>
              <a:chOff x="950801" y="252414"/>
              <a:chExt cx="3992022" cy="540399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950801" y="252414"/>
                <a:ext cx="0" cy="5403992"/>
              </a:xfrm>
              <a:prstGeom prst="line">
                <a:avLst/>
              </a:prstGeom>
              <a:ln w="28575">
                <a:solidFill>
                  <a:schemeClr val="bg1">
                    <a:alpha val="50000"/>
                  </a:schemeClr>
                </a:solidFill>
                <a:prstDash val="sysDot"/>
              </a:ln>
            </p:spPr>
          </p:cxnSp>
          <p:cxnSp>
            <p:nvCxnSpPr>
              <p:cNvPr id="48" name="直接连接符 47"/>
              <p:cNvCxnSpPr/>
              <p:nvPr userDrawn="1"/>
            </p:nvCxnSpPr>
            <p:spPr>
              <a:xfrm>
                <a:off x="4942823" y="256287"/>
                <a:ext cx="0" cy="5342654"/>
              </a:xfrm>
              <a:prstGeom prst="line">
                <a:avLst/>
              </a:prstGeom>
              <a:ln w="28575">
                <a:solidFill>
                  <a:schemeClr val="bg1">
                    <a:alpha val="50000"/>
                  </a:schemeClr>
                </a:solidFill>
                <a:prstDash val="sysDot"/>
              </a:ln>
            </p:spPr>
          </p:cxnSp>
        </p:grpSp>
      </p:grpSp>
      <p:grpSp>
        <p:nvGrpSpPr>
          <p:cNvPr id="62" name="组合 61"/>
          <p:cNvGrpSpPr/>
          <p:nvPr userDrawn="1"/>
        </p:nvGrpSpPr>
        <p:grpSpPr>
          <a:xfrm flipH="1" flipV="1">
            <a:off x="5239381" y="388811"/>
            <a:ext cx="647695" cy="3454155"/>
            <a:chOff x="0" y="2756145"/>
            <a:chExt cx="647695" cy="3454155"/>
          </a:xfrm>
        </p:grpSpPr>
        <p:sp>
          <p:nvSpPr>
            <p:cNvPr id="63" name="矩形 62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64" name="直接连接符 63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65" name="矩形 64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66" name="组合 65"/>
          <p:cNvGrpSpPr/>
          <p:nvPr userDrawn="1"/>
        </p:nvGrpSpPr>
        <p:grpSpPr>
          <a:xfrm rot="10800000" flipH="1" flipV="1">
            <a:off x="11463115" y="6437136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74" name="组合 7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5" name="椭圆 7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299862"/>
            <a:ext cx="12192000" cy="4258277"/>
          </a:xfrm>
          <a:prstGeom prst="rect">
            <a:avLst/>
          </a:prstGeom>
          <a:solidFill>
            <a:srgbClr val="90C3F4"/>
          </a:solidFill>
          <a:ln>
            <a:noFill/>
          </a:ln>
          <a:effectLst>
            <a:glow rad="63500">
              <a:schemeClr val="bg1">
                <a:lumMod val="85000"/>
                <a:alpha val="20000"/>
              </a:schemeClr>
            </a:glow>
          </a:effectLst>
        </p:spPr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  <p:grpSp>
        <p:nvGrpSpPr>
          <p:cNvPr id="66" name="组合 65"/>
          <p:cNvGrpSpPr/>
          <p:nvPr userDrawn="1"/>
        </p:nvGrpSpPr>
        <p:grpSpPr>
          <a:xfrm rot="10800000" flipH="1" flipV="1">
            <a:off x="11463115" y="5822074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74" name="组合 73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8" name="椭圆 77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5" name="椭圆 74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71" name="椭圆 70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70" name="椭圆 69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43" name="组合 42"/>
          <p:cNvGrpSpPr/>
          <p:nvPr userDrawn="1"/>
        </p:nvGrpSpPr>
        <p:grpSpPr>
          <a:xfrm rot="10800000">
            <a:off x="233318" y="789131"/>
            <a:ext cx="488424" cy="208662"/>
            <a:chOff x="647695" y="327322"/>
            <a:chExt cx="488424" cy="208662"/>
          </a:xfrm>
          <a:solidFill>
            <a:schemeClr val="bg1">
              <a:lumMod val="85000"/>
              <a:alpha val="50000"/>
            </a:schemeClr>
          </a:solidFill>
        </p:grpSpPr>
        <p:grpSp>
          <p:nvGrpSpPr>
            <p:cNvPr id="44" name="组合 43"/>
            <p:cNvGrpSpPr/>
            <p:nvPr/>
          </p:nvGrpSpPr>
          <p:grpSpPr>
            <a:xfrm>
              <a:off x="647695" y="45958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53" name="组合 52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55" name="椭圆 54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54" name="椭圆 53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647695" y="327322"/>
              <a:ext cx="488424" cy="76402"/>
              <a:chOff x="647695" y="459582"/>
              <a:chExt cx="488424" cy="76402"/>
            </a:xfrm>
            <a:grpFill/>
          </p:grpSpPr>
          <p:grpSp>
            <p:nvGrpSpPr>
              <p:cNvPr id="46" name="组合 45"/>
              <p:cNvGrpSpPr/>
              <p:nvPr/>
            </p:nvGrpSpPr>
            <p:grpSpPr>
              <a:xfrm>
                <a:off x="647695" y="459582"/>
                <a:ext cx="344954" cy="76402"/>
                <a:chOff x="647695" y="459582"/>
                <a:chExt cx="344954" cy="76402"/>
              </a:xfrm>
              <a:grpFill/>
            </p:grpSpPr>
            <p:sp>
              <p:nvSpPr>
                <p:cNvPr id="50" name="椭圆 49"/>
                <p:cNvSpPr/>
                <p:nvPr/>
              </p:nvSpPr>
              <p:spPr>
                <a:xfrm>
                  <a:off x="647695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1" name="椭圆 50"/>
                <p:cNvSpPr/>
                <p:nvPr/>
              </p:nvSpPr>
              <p:spPr>
                <a:xfrm>
                  <a:off x="781971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  <p:sp>
              <p:nvSpPr>
                <p:cNvPr id="52" name="椭圆 51"/>
                <p:cNvSpPr/>
                <p:nvPr/>
              </p:nvSpPr>
              <p:spPr>
                <a:xfrm>
                  <a:off x="91624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49" name="椭圆 48"/>
              <p:cNvSpPr/>
              <p:nvPr/>
            </p:nvSpPr>
            <p:spPr>
              <a:xfrm>
                <a:off x="1059717" y="459582"/>
                <a:ext cx="76402" cy="76402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58" name="组合 57"/>
          <p:cNvGrpSpPr/>
          <p:nvPr userDrawn="1"/>
        </p:nvGrpSpPr>
        <p:grpSpPr>
          <a:xfrm flipH="1" flipV="1">
            <a:off x="11546618" y="388811"/>
            <a:ext cx="647695" cy="3454155"/>
            <a:chOff x="0" y="2756145"/>
            <a:chExt cx="647695" cy="3454155"/>
          </a:xfrm>
        </p:grpSpPr>
        <p:sp>
          <p:nvSpPr>
            <p:cNvPr id="59" name="矩形 58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61" name="矩形 60"/>
            <p:cNvSpPr/>
            <p:nvPr/>
          </p:nvSpPr>
          <p:spPr>
            <a:xfrm rot="16200000">
              <a:off x="-521915" y="3539020"/>
              <a:ext cx="18427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INTERVIEW SELF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  <p:grpSp>
        <p:nvGrpSpPr>
          <p:cNvPr id="79" name="组合 78"/>
          <p:cNvGrpSpPr/>
          <p:nvPr userDrawn="1"/>
        </p:nvGrpSpPr>
        <p:grpSpPr>
          <a:xfrm>
            <a:off x="0" y="3021742"/>
            <a:ext cx="647695" cy="3415394"/>
            <a:chOff x="0" y="2794906"/>
            <a:chExt cx="647695" cy="3415394"/>
          </a:xfrm>
        </p:grpSpPr>
        <p:sp>
          <p:nvSpPr>
            <p:cNvPr id="81" name="矩形 80"/>
            <p:cNvSpPr/>
            <p:nvPr/>
          </p:nvSpPr>
          <p:spPr>
            <a:xfrm>
              <a:off x="0" y="5476240"/>
              <a:ext cx="647695" cy="327660"/>
            </a:xfrm>
            <a:prstGeom prst="rect">
              <a:avLst/>
            </a:prstGeom>
            <a:solidFill>
              <a:srgbClr val="193A5D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zh-CN" altLang="en-US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V="1">
              <a:off x="449263" y="4648200"/>
              <a:ext cx="0" cy="1562100"/>
            </a:xfrm>
            <a:prstGeom prst="line">
              <a:avLst/>
            </a:prstGeom>
            <a:ln w="25400" cap="rnd">
              <a:solidFill>
                <a:srgbClr val="193A5D"/>
              </a:solidFill>
              <a:round/>
            </a:ln>
          </p:spPr>
        </p:cxnSp>
        <p:sp>
          <p:nvSpPr>
            <p:cNvPr id="83" name="矩形 82"/>
            <p:cNvSpPr/>
            <p:nvPr/>
          </p:nvSpPr>
          <p:spPr>
            <a:xfrm rot="16200000">
              <a:off x="-483152" y="3539020"/>
              <a:ext cx="17652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rPr>
                <a:t>SELF STUDENTS</a:t>
              </a:r>
              <a:endParaRPr lang="zh-CN" altLang="en-US" sz="1200" spc="300" dirty="0">
                <a:solidFill>
                  <a:srgbClr val="19395F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Segoe UI" panose="020B0502040204020203" pitchFamily="34" charset="0"/>
                <a:sym typeface="思源黑体 Normal" panose="020B0400000000000000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205548"/>
            <a:ext cx="721742" cy="6652452"/>
            <a:chOff x="0" y="205548"/>
            <a:chExt cx="721742" cy="6652452"/>
          </a:xfrm>
        </p:grpSpPr>
        <p:sp>
          <p:nvSpPr>
            <p:cNvPr id="90" name="矩形 89"/>
            <p:cNvSpPr/>
            <p:nvPr userDrawn="1"/>
          </p:nvSpPr>
          <p:spPr>
            <a:xfrm>
              <a:off x="0" y="5038725"/>
              <a:ext cx="233308" cy="1819275"/>
            </a:xfrm>
            <a:prstGeom prst="rect">
              <a:avLst/>
            </a:prstGeom>
            <a:solidFill>
              <a:srgbClr val="9FC1F1">
                <a:alpha val="3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89" name="矩形 88"/>
            <p:cNvSpPr/>
            <p:nvPr userDrawn="1"/>
          </p:nvSpPr>
          <p:spPr>
            <a:xfrm>
              <a:off x="91453" y="5479519"/>
              <a:ext cx="170667" cy="1378481"/>
            </a:xfrm>
            <a:prstGeom prst="rect">
              <a:avLst/>
            </a:prstGeom>
            <a:solidFill>
              <a:srgbClr val="9FC1F1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88" name="矩形 87"/>
            <p:cNvSpPr/>
            <p:nvPr userDrawn="1"/>
          </p:nvSpPr>
          <p:spPr>
            <a:xfrm>
              <a:off x="187990" y="5194300"/>
              <a:ext cx="265200" cy="1663700"/>
            </a:xfrm>
            <a:prstGeom prst="rect">
              <a:avLst/>
            </a:prstGeom>
            <a:solidFill>
              <a:srgbClr val="90C3F4"/>
            </a:solidFill>
            <a:ln>
              <a:noFill/>
            </a:ln>
            <a:effectLst>
              <a:glow rad="63500">
                <a:schemeClr val="bg1">
                  <a:lumMod val="85000"/>
                  <a:alpha val="20000"/>
                </a:schemeClr>
              </a:glow>
            </a:effectLst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grpSp>
          <p:nvGrpSpPr>
            <p:cNvPr id="37" name="组合 36"/>
            <p:cNvGrpSpPr/>
            <p:nvPr userDrawn="1"/>
          </p:nvGrpSpPr>
          <p:grpSpPr>
            <a:xfrm rot="10800000">
              <a:off x="233318" y="205548"/>
              <a:ext cx="488424" cy="208662"/>
              <a:chOff x="647695" y="327322"/>
              <a:chExt cx="488424" cy="208662"/>
            </a:xfrm>
            <a:solidFill>
              <a:schemeClr val="bg1">
                <a:lumMod val="85000"/>
                <a:alpha val="50000"/>
              </a:schemeClr>
            </a:solidFill>
          </p:grpSpPr>
          <p:grpSp>
            <p:nvGrpSpPr>
              <p:cNvPr id="38" name="组合 37"/>
              <p:cNvGrpSpPr/>
              <p:nvPr/>
            </p:nvGrpSpPr>
            <p:grpSpPr>
              <a:xfrm>
                <a:off x="647695" y="45958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64" name="椭圆 63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65" name="椭圆 64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80" name="椭圆 79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63" name="椭圆 62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647695" y="32732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40" name="组合 39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42" name="椭圆 41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47" name="椭圆 46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48" name="椭圆 47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41" name="椭圆 40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84" name="组合 83"/>
            <p:cNvGrpSpPr/>
            <p:nvPr userDrawn="1"/>
          </p:nvGrpSpPr>
          <p:grpSpPr>
            <a:xfrm>
              <a:off x="0" y="3021742"/>
              <a:ext cx="513420" cy="3415394"/>
              <a:chOff x="134275" y="2794906"/>
              <a:chExt cx="513420" cy="3415394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134275" y="5476240"/>
                <a:ext cx="513420" cy="327660"/>
              </a:xfrm>
              <a:prstGeom prst="rect">
                <a:avLst/>
              </a:prstGeom>
              <a:solidFill>
                <a:srgbClr val="193A5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  <p:cxnSp>
            <p:nvCxnSpPr>
              <p:cNvPr id="86" name="直接连接符 85"/>
              <p:cNvCxnSpPr/>
              <p:nvPr/>
            </p:nvCxnSpPr>
            <p:spPr>
              <a:xfrm flipV="1">
                <a:off x="449263" y="4648200"/>
                <a:ext cx="0" cy="1562100"/>
              </a:xfrm>
              <a:prstGeom prst="line">
                <a:avLst/>
              </a:prstGeom>
              <a:ln w="25400" cap="rnd">
                <a:solidFill>
                  <a:srgbClr val="193A5D"/>
                </a:solidFill>
                <a:round/>
              </a:ln>
            </p:spPr>
          </p:cxnSp>
          <p:sp>
            <p:nvSpPr>
              <p:cNvPr id="87" name="矩形 86"/>
              <p:cNvSpPr/>
              <p:nvPr/>
            </p:nvSpPr>
            <p:spPr>
              <a:xfrm rot="16200000">
                <a:off x="-421849" y="3539020"/>
                <a:ext cx="17652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spc="300" dirty="0">
                    <a:solidFill>
                      <a:srgbClr val="19395F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Segoe UI" panose="020B0502040204020203" pitchFamily="34" charset="0"/>
                    <a:sym typeface="思源黑体 Normal" panose="020B0400000000000000" pitchFamily="34" charset="-122"/>
                  </a:rPr>
                  <a:t>SELF STUDENTS</a:t>
                </a:r>
                <a:endParaRPr lang="zh-CN" altLang="en-US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endParaRPr>
              </a:p>
            </p:txBody>
          </p:sp>
        </p:grpSp>
      </p:grpSp>
      <p:grpSp>
        <p:nvGrpSpPr>
          <p:cNvPr id="91" name="组合 90"/>
          <p:cNvGrpSpPr/>
          <p:nvPr userDrawn="1"/>
        </p:nvGrpSpPr>
        <p:grpSpPr>
          <a:xfrm flipH="1" flipV="1">
            <a:off x="11467042" y="0"/>
            <a:ext cx="721742" cy="6652452"/>
            <a:chOff x="0" y="205548"/>
            <a:chExt cx="721742" cy="6652452"/>
          </a:xfrm>
        </p:grpSpPr>
        <p:sp>
          <p:nvSpPr>
            <p:cNvPr id="92" name="矩形 91"/>
            <p:cNvSpPr/>
            <p:nvPr userDrawn="1"/>
          </p:nvSpPr>
          <p:spPr>
            <a:xfrm>
              <a:off x="0" y="5038725"/>
              <a:ext cx="233308" cy="1819275"/>
            </a:xfrm>
            <a:prstGeom prst="rect">
              <a:avLst/>
            </a:prstGeom>
            <a:solidFill>
              <a:srgbClr val="9FC1F1">
                <a:alpha val="3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93" name="矩形 92"/>
            <p:cNvSpPr/>
            <p:nvPr userDrawn="1"/>
          </p:nvSpPr>
          <p:spPr>
            <a:xfrm>
              <a:off x="91453" y="5479519"/>
              <a:ext cx="170667" cy="1378481"/>
            </a:xfrm>
            <a:prstGeom prst="rect">
              <a:avLst/>
            </a:prstGeom>
            <a:solidFill>
              <a:srgbClr val="9FC1F1">
                <a:alpha val="5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sp>
          <p:nvSpPr>
            <p:cNvPr id="94" name="矩形 93"/>
            <p:cNvSpPr/>
            <p:nvPr userDrawn="1"/>
          </p:nvSpPr>
          <p:spPr>
            <a:xfrm>
              <a:off x="187990" y="5194300"/>
              <a:ext cx="265200" cy="1663700"/>
            </a:xfrm>
            <a:prstGeom prst="rect">
              <a:avLst/>
            </a:prstGeom>
            <a:solidFill>
              <a:srgbClr val="90C3F4"/>
            </a:solidFill>
            <a:ln>
              <a:noFill/>
            </a:ln>
            <a:effectLst>
              <a:glow rad="63500">
                <a:schemeClr val="bg1">
                  <a:lumMod val="85000"/>
                  <a:alpha val="20000"/>
                </a:schemeClr>
              </a:glow>
            </a:effectLst>
          </p:spPr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思源黑体 Normal" panose="020B0400000000000000" pitchFamily="34" charset="-122"/>
              </a:endParaRPr>
            </a:p>
          </p:txBody>
        </p:sp>
        <p:grpSp>
          <p:nvGrpSpPr>
            <p:cNvPr id="95" name="组合 94"/>
            <p:cNvGrpSpPr/>
            <p:nvPr userDrawn="1"/>
          </p:nvGrpSpPr>
          <p:grpSpPr>
            <a:xfrm rot="10800000">
              <a:off x="233318" y="205548"/>
              <a:ext cx="488424" cy="208662"/>
              <a:chOff x="647695" y="327322"/>
              <a:chExt cx="488424" cy="208662"/>
            </a:xfrm>
            <a:solidFill>
              <a:schemeClr val="bg1">
                <a:lumMod val="85000"/>
                <a:alpha val="50000"/>
              </a:schemeClr>
            </a:solidFill>
          </p:grpSpPr>
          <p:grpSp>
            <p:nvGrpSpPr>
              <p:cNvPr id="100" name="组合 99"/>
              <p:cNvGrpSpPr/>
              <p:nvPr/>
            </p:nvGrpSpPr>
            <p:grpSpPr>
              <a:xfrm>
                <a:off x="647695" y="45958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107" name="组合 106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109" name="椭圆 108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10" name="椭圆 109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11" name="椭圆 110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108" name="椭圆 107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647695" y="327322"/>
                <a:ext cx="488424" cy="76402"/>
                <a:chOff x="647695" y="459582"/>
                <a:chExt cx="488424" cy="76402"/>
              </a:xfrm>
              <a:grpFill/>
            </p:grpSpPr>
            <p:grpSp>
              <p:nvGrpSpPr>
                <p:cNvPr id="102" name="组合 101"/>
                <p:cNvGrpSpPr/>
                <p:nvPr/>
              </p:nvGrpSpPr>
              <p:grpSpPr>
                <a:xfrm>
                  <a:off x="647695" y="459582"/>
                  <a:ext cx="344954" cy="76402"/>
                  <a:chOff x="647695" y="459582"/>
                  <a:chExt cx="344954" cy="76402"/>
                </a:xfrm>
                <a:grpFill/>
              </p:grpSpPr>
              <p:sp>
                <p:nvSpPr>
                  <p:cNvPr id="104" name="椭圆 103"/>
                  <p:cNvSpPr/>
                  <p:nvPr/>
                </p:nvSpPr>
                <p:spPr>
                  <a:xfrm>
                    <a:off x="647695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05" name="椭圆 104"/>
                  <p:cNvSpPr/>
                  <p:nvPr/>
                </p:nvSpPr>
                <p:spPr>
                  <a:xfrm>
                    <a:off x="781971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  <p:sp>
                <p:nvSpPr>
                  <p:cNvPr id="106" name="椭圆 105"/>
                  <p:cNvSpPr/>
                  <p:nvPr/>
                </p:nvSpPr>
                <p:spPr>
                  <a:xfrm>
                    <a:off x="916247" y="459582"/>
                    <a:ext cx="76402" cy="764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Normal" panose="020B0400000000000000" pitchFamily="34" charset="-122"/>
                      <a:ea typeface="思源黑体 Normal" panose="020B0400000000000000" pitchFamily="34" charset="-122"/>
                      <a:sym typeface="思源黑体 Normal" panose="020B0400000000000000" pitchFamily="34" charset="-122"/>
                    </a:endParaRPr>
                  </a:p>
                </p:txBody>
              </p:sp>
            </p:grpSp>
            <p:sp>
              <p:nvSpPr>
                <p:cNvPr id="103" name="椭圆 102"/>
                <p:cNvSpPr/>
                <p:nvPr/>
              </p:nvSpPr>
              <p:spPr>
                <a:xfrm>
                  <a:off x="1059717" y="459582"/>
                  <a:ext cx="76402" cy="7640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Normal" panose="020B0400000000000000" pitchFamily="34" charset="-122"/>
                    <a:ea typeface="思源黑体 Normal" panose="020B0400000000000000" pitchFamily="34" charset="-122"/>
                    <a:sym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96" name="组合 95"/>
            <p:cNvGrpSpPr/>
            <p:nvPr userDrawn="1"/>
          </p:nvGrpSpPr>
          <p:grpSpPr>
            <a:xfrm>
              <a:off x="0" y="3021742"/>
              <a:ext cx="513420" cy="3415394"/>
              <a:chOff x="134275" y="2794906"/>
              <a:chExt cx="513420" cy="3415394"/>
            </a:xfrm>
          </p:grpSpPr>
          <p:sp>
            <p:nvSpPr>
              <p:cNvPr id="97" name="矩形 96"/>
              <p:cNvSpPr/>
              <p:nvPr/>
            </p:nvSpPr>
            <p:spPr>
              <a:xfrm>
                <a:off x="134275" y="5476240"/>
                <a:ext cx="513420" cy="327660"/>
              </a:xfrm>
              <a:prstGeom prst="rect">
                <a:avLst/>
              </a:prstGeom>
              <a:solidFill>
                <a:srgbClr val="193A5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 lang="zh-CN" altLang="en-US">
                  <a:latin typeface="思源黑体 Normal" panose="020B0400000000000000" pitchFamily="34" charset="-122"/>
                  <a:ea typeface="思源黑体 Normal" panose="020B0400000000000000" pitchFamily="34" charset="-122"/>
                  <a:sym typeface="思源黑体 Normal" panose="020B0400000000000000" pitchFamily="34" charset="-122"/>
                </a:endParaRPr>
              </a:p>
            </p:txBody>
          </p:sp>
          <p:cxnSp>
            <p:nvCxnSpPr>
              <p:cNvPr id="98" name="直接连接符 97"/>
              <p:cNvCxnSpPr/>
              <p:nvPr/>
            </p:nvCxnSpPr>
            <p:spPr>
              <a:xfrm flipV="1">
                <a:off x="449263" y="4648200"/>
                <a:ext cx="0" cy="1562100"/>
              </a:xfrm>
              <a:prstGeom prst="line">
                <a:avLst/>
              </a:prstGeom>
              <a:ln w="25400" cap="rnd">
                <a:solidFill>
                  <a:srgbClr val="193A5D"/>
                </a:solidFill>
                <a:round/>
              </a:ln>
            </p:spPr>
          </p:cxnSp>
          <p:sp>
            <p:nvSpPr>
              <p:cNvPr id="99" name="矩形 98"/>
              <p:cNvSpPr/>
              <p:nvPr/>
            </p:nvSpPr>
            <p:spPr>
              <a:xfrm rot="16200000">
                <a:off x="-421849" y="3539020"/>
                <a:ext cx="176522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200" spc="300" dirty="0">
                    <a:solidFill>
                      <a:srgbClr val="19395F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Segoe UI" panose="020B0502040204020203" pitchFamily="34" charset="0"/>
                    <a:sym typeface="思源黑体 Normal" panose="020B0400000000000000" pitchFamily="34" charset="-122"/>
                  </a:rPr>
                  <a:t>SELF STUDENTS</a:t>
                </a:r>
                <a:endParaRPr lang="zh-CN" altLang="en-US" sz="1200" spc="300" dirty="0">
                  <a:solidFill>
                    <a:srgbClr val="19395F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Segoe UI" panose="020B0502040204020203" pitchFamily="34" charset="0"/>
                  <a:sym typeface="思源黑体 Normal" panose="020B0400000000000000" pitchFamily="34" charset="-122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2026/5/10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36.xml"/><Relationship Id="rId3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>
              <a:latin typeface="思源黑体 Normal" panose="020B0400000000000000" pitchFamily="34" charset="-122"/>
              <a:ea typeface="思源黑体 Normal" panose="020B0400000000000000" pitchFamily="34" charset="-122"/>
              <a:sym typeface="思源黑体 Normal" panose="020B04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07C27E53-8393-4364-8F27-75C13D97A0E8}" type="datetimeFigureOut">
              <a:rPr lang="zh-CN" altLang="en-US" smtClean="0"/>
              <a:t>2026/5/10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93D2807F-E77D-47AF-BE97-7F279468F5B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半导体刻蚀工艺良率分析报告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基于 10,000 条工艺数据的设备良率、交叉维度与关键影响因素分析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数据分析平台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2026.04 — 2028.07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半导体刻蚀工艺良率分析报告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基于 10,000 条工艺数据的设备良率、交叉维度与关键影响因素分析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数据分析平台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2026.04 — 2028.07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执行摘要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全局良率概览与核心结论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数据概况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数据规模、字段分布与质量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设备良率对比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8台设备良率排名与时间趋势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交叉维度分析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设备×腔室、设备×配方、晶圆差异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关键影响因素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决策树特征重要性分析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943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聚类分析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989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K-Means 四簇工艺特征与风险分级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583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6858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858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建议与行动项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6903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优先级排序与预期收益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7498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全局良率 83.80%，设备间极差 4.65 个百分点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核心指标一览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83.80%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全局平均良率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10,000 条记录，8 台设备，28 个月跨度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详细说明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最佳设备：ETCH08 — 86.55%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最差设备：ETCH01 — 81.90%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最佳组合：ETCH02×RECIPE_B — 89.34%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最差组合：ETCH05×CH4 — 78.37%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关键因素：厚度均匀性（44.7%）+ 缺陷密度（29.5%）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数据概况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10,000 条记录 · 31 个字段 · 100% 完整度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数据集基本信息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总记录数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3716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字段数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30430" y="1371600"/>
            <a:ext cx="50292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04750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04750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数据完整度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29885" y="13716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04205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4205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设备数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29340" y="1371600"/>
            <a:ext cx="50292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03660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803660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腔室数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28795" y="13716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03115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03115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配方数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8250" y="1371600"/>
            <a:ext cx="50292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2570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2570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晶圆数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27705" y="13716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902025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902025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月份跨度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设备良率对比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 领跑，ETCH01 持续下滑需重点关注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各设备平均良率排名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3683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平均良率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011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趋势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783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1783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011" y="1783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➡️ 稳定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545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54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683" y="2354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354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86.05%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011" y="2354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➡️ 稳定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3683" y="2926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2926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84.15%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011" y="2926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➡️ 稳中有升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975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97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3683" y="3497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3497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83.79%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011" y="3497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➡️ 稳定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069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69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3683" y="4069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5847" y="4069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83.39%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011" y="4069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⬆️ 后期改善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6405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640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3683" y="4640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847" y="4640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83.17%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011" y="4640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⬇️ 后期下滑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212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212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3683" y="5212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847" y="5212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81.91%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011" y="52120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⬇️ 波动较大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7835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783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683" y="5783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5847" y="5783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81.90%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011" y="5783580"/>
            <a:ext cx="2682163" cy="5715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⬇️ 持续下降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635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各设备月度良率趋势（2026.04 — 2028.07）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各设备月度良率趋势（2026.04 — 2028.07）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143000"/>
            <a:ext cx="182880" cy="182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143000"/>
            <a:ext cx="182880" cy="182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ETCH08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0" y="1143000"/>
            <a:ext cx="182880" cy="182880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ETCH06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6172200"/>
            <a:ext cx="905256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0180" y="2486771"/>
            <a:ext cx="320040" cy="368542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4460" y="2258171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5940" y="2213776"/>
            <a:ext cx="320040" cy="395842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60220" y="198517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71700" y="2213776"/>
            <a:ext cx="320040" cy="395842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25980" y="198517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2026Q2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2441272"/>
            <a:ext cx="320040" cy="37309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00300" y="2212672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11780" y="2168277"/>
            <a:ext cx="320040" cy="4003923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6060" y="1939677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77540" y="2350274"/>
            <a:ext cx="320040" cy="3821926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31820" y="212167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2026Q3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1860" y="2213776"/>
            <a:ext cx="320040" cy="395842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6140" y="198517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17620" y="2259275"/>
            <a:ext cx="320040" cy="391292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71900" y="2030675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83380" y="2168277"/>
            <a:ext cx="320040" cy="4003923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37660" y="1939677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2026Q4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57700" y="2486771"/>
            <a:ext cx="320040" cy="3685429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1980" y="2258171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23460" y="2532270"/>
            <a:ext cx="320040" cy="363993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7740" y="2303670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89220" y="2077279"/>
            <a:ext cx="320040" cy="4094921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43500" y="1848679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2027Q1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63540" y="2441272"/>
            <a:ext cx="320040" cy="37309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17820" y="2212672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29300" y="2304774"/>
            <a:ext cx="320040" cy="386742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83580" y="207617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5060" y="2259275"/>
            <a:ext cx="320040" cy="3912925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9340" y="2030675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2027Q2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69380" y="2395773"/>
            <a:ext cx="320040" cy="3776427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3660" y="2167173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35140" y="2077279"/>
            <a:ext cx="320040" cy="4094921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89420" y="1848679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00900" y="2213776"/>
            <a:ext cx="320040" cy="395842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55180" y="198517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2027Q3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75220" y="2350274"/>
            <a:ext cx="320040" cy="382192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29500" y="212167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40980" y="2213776"/>
            <a:ext cx="320040" cy="395842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95260" y="198517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87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06740" y="2259275"/>
            <a:ext cx="320040" cy="3912925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61020" y="2030675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2027Q4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81060" y="2714267"/>
            <a:ext cx="320040" cy="3457933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5340" y="2485667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46820" y="2304774"/>
            <a:ext cx="320040" cy="386742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01100" y="207617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12580" y="2350274"/>
            <a:ext cx="320040" cy="3821926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66860" y="212167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2028Q1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86900" y="2577769"/>
            <a:ext cx="320040" cy="3594431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41180" y="2349169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52660" y="2395773"/>
            <a:ext cx="320040" cy="3776427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06940" y="2167173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218420" y="2213776"/>
            <a:ext cx="320040" cy="3958424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72700" y="198517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6217920"/>
            <a:ext cx="10058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2028Q2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交叉维度分析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设备×腔室、设备×配方、晶圆差异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设备 × 腔室 良率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col_title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points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letter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col_title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设备 × 配方 良率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col_title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points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letter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col_title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晶圆良率分布 — 仅 Wafer 24 统计显著偏低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11999"/>
              <a:gd name="adj2" fmla="val 5400000"/>
              <a:gd name="adj3" fmla="val 5200"/>
            </a:avLst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4536000"/>
              <a:gd name="adj2" fmla="val 5400000"/>
              <a:gd name="adj3" fmla="val 5200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3671999"/>
              <a:gd name="adj2" fmla="val 4536000"/>
              <a:gd name="adj3" fmla="val 5200"/>
            </a:avLst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944000"/>
              <a:gd name="adj2" fmla="val 3672000"/>
              <a:gd name="adj3" fmla="val 5200"/>
            </a:avLst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00000"/>
              <a:gd name="adj2" fmla="val 1944000"/>
              <a:gd name="adj3" fmla="val 52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301752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83.80%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383280"/>
            <a:ext cx="1645920" cy="2377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全局均值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728216"/>
            <a:ext cx="256032" cy="2560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691640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Wafer 24 — 79.27% (显著偏低)  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441448"/>
            <a:ext cx="256032" cy="25603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2404872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Wafer 08 — 81.39%  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154680"/>
            <a:ext cx="256032" cy="25603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3118104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Wafer 14/20 — 81.9~82.1%  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867912"/>
            <a:ext cx="256032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831336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其余 21 片晶圆 — 82.5~86.6%  84%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关键影响因素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决策树 C4.5 — 测试准确率 76.40%，AUC 0.652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特征重要性排名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3683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重要性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011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累计贡献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厚度均匀性 (thickness_uniformity_pct)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44.7%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011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44.7%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683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缺陷密度 (defect_density_per_cm2)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011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74.2%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3683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CF₄ 气体流量 (gas_CF4_sccm)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18.4%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011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92.6%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3683" y="438912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设备编号 (tool_id)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438912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011" y="438912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94.0%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3683" y="525780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颗粒数 &gt;0.5μm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5847" y="525780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011" y="525780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94.8%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126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聚类分析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K-Means (K=4) — 识别出高风险工艺簇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四簇工艺特征对比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629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占比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738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厚度均匀性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缺陷密度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3956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良率纯度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2065" y="1280160"/>
            <a:ext cx="1788109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风险等级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629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2.02%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0.031/cm²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3956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94.1%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2065" y="178308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✅ 优质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9629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7738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2.05%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0.037/cm²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56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2065" y="265176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✅ 良好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9629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14.1%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7738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2.08%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5847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0.144/cm²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3956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62.7%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2065" y="352044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⚠️ 风险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9629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7738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5.30%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5847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0.044/cm²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3956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61.2%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2065" y="4389120"/>
            <a:ext cx="1788109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🔴 高风险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建议与行动项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 项行动，按优先级排序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行动项清单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5461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2621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5461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2621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2621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69781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32621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59403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6563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9403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6563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6563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33723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6563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23345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0505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23345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0505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0505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97665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60505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7287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4447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7287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4447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4447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61607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4447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51229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8389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51229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8389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8389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25549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8389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5171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331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171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331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331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491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331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79113" y="1371600"/>
            <a:ext cx="1181061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16273" y="1371600"/>
            <a:ext cx="906741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action_title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79113" y="1920240"/>
            <a:ext cx="1181061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16273" y="1920240"/>
            <a:ext cx="906741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timeline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16273" y="2468880"/>
            <a:ext cx="906741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53433" y="4480560"/>
            <a:ext cx="632421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16273" y="4663440"/>
            <a:ext cx="906741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负责人：owner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通过数据驱动决策，持续优化刻蚀工艺良率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M0ZGRiNGFjMzkzZWVjNjQxMDJlMzkyNDg0ZmE4Y2Q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自定义 1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66BE8"/>
      </a:accent1>
      <a:accent2>
        <a:srgbClr val="73A6F2"/>
      </a:accent2>
      <a:accent3>
        <a:srgbClr val="646464"/>
      </a:accent3>
      <a:accent4>
        <a:srgbClr val="828282"/>
      </a:accent4>
      <a:accent5>
        <a:srgbClr val="A5A5A5"/>
      </a:accent5>
      <a:accent6>
        <a:srgbClr val="C9C9C9"/>
      </a:accent6>
      <a:hlink>
        <a:srgbClr val="4472C4"/>
      </a:hlink>
      <a:folHlink>
        <a:srgbClr val="BFBFBF"/>
      </a:folHlink>
    </a:clrScheme>
    <a:fontScheme name="31s3s1st">
      <a:majorFont>
        <a:latin typeface="OPPOSans B"/>
        <a:ea typeface="OPPOSans R"/>
        <a:cs typeface=""/>
      </a:majorFont>
      <a:minorFont>
        <a:latin typeface="OPPOSans B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OPPOSans R</vt:lpstr>
      <vt:lpstr>思源黑体 Normal</vt:lpstr>
      <vt:lpstr>微软雅黑</vt:lpstr>
      <vt:lpstr>Arial</vt:lpstr>
      <vt:lpstr>第一PPT，www.1ppt.com</vt:lpstr>
      <vt:lpstr>第一PPT，www.1ppt.com 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自我介绍</dc:title>
  <dc:creator>Jiaze Liu</dc:creator>
  <cp:keywords>www.1ppt.com</cp:keywords>
  <dc:description>www.1ppt.com</dc:description>
  <cp:lastModifiedBy>Jiaze Liu</cp:lastModifiedBy>
  <cp:revision>236</cp:revision>
  <dcterms:created xsi:type="dcterms:W3CDTF">2021-05-31T01:54:00Z</dcterms:created>
  <dcterms:modified xsi:type="dcterms:W3CDTF">2026-05-10T09:31:18Z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B531B7DEF71547C5A317E51F03D3C376_12</vt:lpwstr>
  </property>
  <property fmtid="{D5CDD505-2E9C-101B-9397-08002B2CF9AE}" pid="3" name="KSOProductBuildVer">
    <vt:lpwstr>2052-12.1.0.23542</vt:lpwstr>
  </property>
</Properties>
</file>